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hyperlink" Target="https://www.edrawsoft.com/article/business-plan-flowchart.html" TargetMode="External"/><Relationship Id="rId6" Type="http://schemas.openxmlformats.org/officeDocument/2006/relationships/hyperlink" Target="https://images.edrawsoft.com/articles/business-plan-flowchart/business-plan-timeline-flowchart.jpg" TargetMode="External"/><Relationship Id="rId7" Type="http://schemas.openxmlformats.org/officeDocument/2006/relationships/hyperlink" Target="https://corporatefinanceinstitute.com/resources/management/management-by-objectives-mbo/" TargetMode="External"/><Relationship Id="rId8" Type="http://schemas.openxmlformats.org/officeDocument/2006/relationships/hyperlink" Target="https://cdn.corporatefinanceinstitute.com/assets/management-by-objectives-mbo1-1024x535.png" TargetMode="External"/><Relationship Id="rId9" Type="http://schemas.openxmlformats.org/officeDocument/2006/relationships/hyperlink" Target="https://asq.org/quality-resources/decision-matrix" TargetMode="External"/><Relationship Id="rId10" Type="http://schemas.openxmlformats.org/officeDocument/2006/relationships/hyperlink" Target="https://asq.org/-/media/Images/Learn-About-Quality/edmt_matrix_cropped.jp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245" y="1971675"/>
            <a:ext cx="3021359" cy="323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57650"/>
            <a:ext cx="2692300" cy="971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700" y="4057650"/>
            <a:ext cx="2692449" cy="971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750" y="4057650"/>
            <a:ext cx="2692300" cy="9715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81000" y="381000"/>
            <a:ext cx="11430000" cy="304800"/>
          </a:xfrm>
          <a:prstGeom prst="roundRect">
            <a:avLst>
              <a:gd name="adj" fmla="val 125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1000" y="6162675"/>
            <a:ext cx="11430000" cy="314325"/>
          </a:xfrm>
          <a:prstGeom prst="roundRect">
            <a:avLst/>
          </a:prstGeom>
          <a:noFill/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457200"/>
            <a:ext cx="104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0F172A"/>
                </a:solidFill>
                <a:latin typeface="Inter"/>
              </a:rP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457200"/>
            <a:ext cx="5267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0F172A"/>
                </a:solidFill>
                <a:latin typeface="Inter"/>
              </a:rPr>
              <a:t>This deck may contain links or images from external sources. Please review them before opening.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0343" y="2524125"/>
            <a:ext cx="80711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FFFFFF"/>
                </a:solidFill>
                <a:latin typeface="Inter"/>
              </a:rPr>
              <a:t>UNIT II: Planning &amp; Decision Making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8400" y="3133725"/>
            <a:ext cx="731520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37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Nature &amp; purpose of planning, planning processes, MBO framework, decision-making environments, and analytical tools.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6324600"/>
            <a:ext cx="3495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Vivekananda Global University | Course Handout &amp; Lecture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91875" y="6324600"/>
            <a:ext cx="619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1 of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0725" y="4219575"/>
            <a:ext cx="2368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MODULE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0725" y="4410075"/>
            <a:ext cx="2368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Planning Foundations &amp;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1625" y="4219575"/>
            <a:ext cx="236859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MODULE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1625" y="4410075"/>
            <a:ext cx="23685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MBO Framework &amp;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2675" y="4219575"/>
            <a:ext cx="2368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MODULE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2675" y="4410075"/>
            <a:ext cx="2368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Decision Making &amp; Analytical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2366962"/>
            <a:ext cx="5276850" cy="36195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1190625"/>
            <a:ext cx="5600700" cy="4857750"/>
          </a:xfrm>
          <a:prstGeom prst="roundRect">
            <a:avLst>
              <a:gd name="adj" fmla="val 235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1000" y="1190625"/>
            <a:ext cx="5600700" cy="1700212"/>
          </a:xfrm>
          <a:prstGeom prst="roundRect">
            <a:avLst>
              <a:gd name="adj" fmla="val 672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1000" y="3043237"/>
            <a:ext cx="5600700" cy="3005137"/>
          </a:xfrm>
          <a:prstGeom prst="roundRect">
            <a:avLst>
              <a:gd name="adj" fmla="val 3803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2925" y="3471862"/>
            <a:ext cx="2600325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19450" y="3471862"/>
            <a:ext cx="2600325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2925" y="4024312"/>
            <a:ext cx="2600325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19450" y="4024312"/>
            <a:ext cx="2600325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72225" y="1733550"/>
            <a:ext cx="5276850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2225" y="2343150"/>
            <a:ext cx="5276850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2952750"/>
            <a:ext cx="5276850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72225" y="3562350"/>
            <a:ext cx="5276850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000" y="381000"/>
            <a:ext cx="1143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UNIT II • PLANNING FUNDAMENTALS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571500"/>
            <a:ext cx="11811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Nature and Purpose of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6324600"/>
            <a:ext cx="1924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Planning &amp; Decision Making • Unit 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2825" y="6324600"/>
            <a:ext cx="6381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2 of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225" y="5743575"/>
            <a:ext cx="5276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818CF8"/>
                </a:solidFill>
                <a:latin typeface="ui-monospace"/>
              </a:rPr>
              <a:t>Primacy &amp; Perperpetual Nature of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475" y="1352550"/>
            <a:ext cx="532066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A5B4FC"/>
                </a:solidFill>
                <a:latin typeface="Inter"/>
              </a:rPr>
              <a:t>Definition of Planning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925" y="1695450"/>
            <a:ext cx="527685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Planning is the primary management function that involves </a:t>
            </a:r>
            <a:r>
              <a:rPr sz="900" b="1" i="0" u="none">
                <a:solidFill>
                  <a:srgbClr val="FFFFFF"/>
                </a:solidFill>
                <a:latin typeface="Inter"/>
              </a:rPr>
              <a:t>defining organizational goals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, establishing an overall strategy, and developing a comprehensive set of plans to integrate and coordinate activities.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" y="3205162"/>
            <a:ext cx="554069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A5B4FC"/>
                </a:solidFill>
                <a:latin typeface="Inter"/>
              </a:rPr>
              <a:t>Primary Purposes of 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2225" y="1352550"/>
            <a:ext cx="554069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A5B4FC"/>
                </a:solidFill>
                <a:latin typeface="Inter"/>
              </a:rPr>
              <a:t>Essential Characteristics of Planning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390650"/>
            <a:ext cx="133350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8650" y="3557587"/>
            <a:ext cx="2428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1. Direction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" y="3719512"/>
            <a:ext cx="24098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Provides clear focus for managers &amp; employees.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5175" y="3557587"/>
            <a:ext cx="2428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2. Risk Reduction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05175" y="3719512"/>
            <a:ext cx="22764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Minimizes uncertainty &amp; anticipates changes.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650" y="4110037"/>
            <a:ext cx="2428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3. Waste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50" y="4271962"/>
            <a:ext cx="2114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Reduces overlapping &amp; wasteful activities.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05175" y="4110037"/>
            <a:ext cx="2428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4. Standards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05175" y="4271962"/>
            <a:ext cx="20097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Establishes benchmarks for controlling.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0" y="1838325"/>
            <a:ext cx="5067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Primacy of Planning: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0" y="1990725"/>
            <a:ext cx="45434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Precedes all other managerial functions (Organizing, Staffing, Directing, Controlling).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0" y="2447925"/>
            <a:ext cx="5067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Pervasive Function: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0" y="2600325"/>
            <a:ext cx="33813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Required at top, middle, and operational levels of management.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0" y="3057525"/>
            <a:ext cx="5067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Continuous &amp; Future-Oriented: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0" y="3209925"/>
            <a:ext cx="42481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An ongoing intellectual exercise that forecasts future trends and contingencies.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0" y="3667125"/>
            <a:ext cx="5067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Efficiency &amp; Flexibility: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0" y="3819525"/>
            <a:ext cx="48006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Aims to achieve maximum goal achievement at minimum cost while adapting to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1000" y="1190625"/>
            <a:ext cx="5600700" cy="4857750"/>
          </a:xfrm>
          <a:prstGeom prst="roundRect">
            <a:avLst>
              <a:gd name="adj" fmla="val 235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1190625"/>
            <a:ext cx="5600700" cy="4857750"/>
          </a:xfrm>
          <a:prstGeom prst="roundRect">
            <a:avLst>
              <a:gd name="adj" fmla="val 235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2925" y="1657350"/>
            <a:ext cx="5276850" cy="552450"/>
          </a:xfrm>
          <a:prstGeom prst="roundRect">
            <a:avLst>
              <a:gd name="adj" fmla="val 6896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2925" y="2286000"/>
            <a:ext cx="5276850" cy="552450"/>
          </a:xfrm>
          <a:prstGeom prst="roundRect">
            <a:avLst>
              <a:gd name="adj" fmla="val 6896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2925" y="2914650"/>
            <a:ext cx="5276850" cy="552450"/>
          </a:xfrm>
          <a:prstGeom prst="roundRect">
            <a:avLst>
              <a:gd name="adj" fmla="val 6896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72225" y="1657350"/>
            <a:ext cx="2581275" cy="1314450"/>
          </a:xfrm>
          <a:prstGeom prst="roundRect">
            <a:avLst>
              <a:gd name="adj" fmla="val 2898"/>
            </a:avLst>
          </a:prstGeom>
          <a:solidFill>
            <a:srgbClr val="1E1B4B">
              <a:alpha val="40000"/>
            </a:srgbClr>
          </a:solidFill>
          <a:ln w="9525">
            <a:solidFill>
              <a:srgbClr val="6366F1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67800" y="1657350"/>
            <a:ext cx="2581275" cy="1314450"/>
          </a:xfrm>
          <a:prstGeom prst="roundRect">
            <a:avLst>
              <a:gd name="adj" fmla="val 2898"/>
            </a:avLst>
          </a:prstGeom>
          <a:solidFill>
            <a:srgbClr val="172554">
              <a:alpha val="40000"/>
            </a:srgbClr>
          </a:solidFill>
          <a:ln w="9525">
            <a:solidFill>
              <a:srgbClr val="3B82F6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000" y="381000"/>
            <a:ext cx="1143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UNIT II • PLAN TAXONOMY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571500"/>
            <a:ext cx="11811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Types of Plans and Hierarchy of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6324600"/>
            <a:ext cx="1924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Planning &amp; Decision Making • Unit 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2825" y="6324600"/>
            <a:ext cx="6381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3 of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925" y="5743575"/>
            <a:ext cx="5276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818CF8"/>
                </a:solidFill>
                <a:latin typeface="ui-monospace"/>
              </a:rPr>
              <a:t>Time Horizon &amp; Management Hierarchy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225" y="5743575"/>
            <a:ext cx="5276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818CF8"/>
                </a:solidFill>
                <a:latin typeface="ui-monospace"/>
              </a:rPr>
              <a:t>Frequency &amp; Frequency of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925" y="1352550"/>
            <a:ext cx="55406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A5B4FC"/>
                </a:solidFill>
                <a:latin typeface="Inter"/>
              </a:rPr>
              <a:t>1. By Operational Level &amp; Horizon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2225" y="1352550"/>
            <a:ext cx="55406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A5B4FC"/>
                </a:solidFill>
                <a:latin typeface="Inter"/>
              </a:rPr>
              <a:t>2. Standing Plans vs. Single-Use Plans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1952625"/>
            <a:ext cx="5067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Org-wide goals, competitive positioning, driven by Top Management.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581275"/>
            <a:ext cx="5067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Departmental goals translating strategy into action, driven by Middle Management.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3209925"/>
            <a:ext cx="5067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Daily/weekly task execution, schedules, driven by First-Line Supervisors.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0" y="1762125"/>
            <a:ext cx="2371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A5B4FC"/>
                </a:solidFill>
                <a:latin typeface="Inter"/>
              </a:rPr>
              <a:t>Standing Plans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0" y="1952625"/>
            <a:ext cx="2371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Ongoing plans providing guidance for recurring activities.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2575" y="1762125"/>
            <a:ext cx="2371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93C5FD"/>
                </a:solidFill>
                <a:latin typeface="Inter"/>
              </a:rPr>
              <a:t>Single-Use Plans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2575" y="1952625"/>
            <a:ext cx="2371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Designed to meet the needs of a unique, non-recurring situation.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1762125"/>
            <a:ext cx="866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Strategic Plans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5350" y="1762125"/>
            <a:ext cx="1009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1" i="0" u="none">
                <a:solidFill>
                  <a:srgbClr val="818CF8"/>
                </a:solidFill>
                <a:latin typeface="Inter"/>
              </a:rPr>
              <a:t>Long-Term (3-5+ yrs)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2390775"/>
            <a:ext cx="781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Tactical Plans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8200" y="2390775"/>
            <a:ext cx="1066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1" i="0" u="none">
                <a:solidFill>
                  <a:srgbClr val="60A5FA"/>
                </a:solidFill>
                <a:latin typeface="Inter"/>
              </a:rPr>
              <a:t>Medium-Term (1-3 yrs)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3019425"/>
            <a:ext cx="1000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Operational Plans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7275" y="3019425"/>
            <a:ext cx="847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1" i="0" u="none">
                <a:solidFill>
                  <a:srgbClr val="34D399"/>
                </a:solidFill>
                <a:latin typeface="Inter"/>
              </a:rPr>
              <a:t>Short-Term (&lt;1 yr)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0" y="2333625"/>
            <a:ext cx="2371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0" i="0" u="none">
                <a:solidFill>
                  <a:srgbClr val="94A3B8"/>
                </a:solidFill>
                <a:latin typeface="Inter"/>
              </a:rPr>
              <a:t>• </a:t>
            </a:r>
            <a:r>
              <a:rPr sz="750" b="1" i="0" u="none">
                <a:solidFill>
                  <a:srgbClr val="FFFFFF"/>
                </a:solidFill>
                <a:latin typeface="Inter"/>
              </a:rPr>
              <a:t>Policies:</a:t>
            </a:r>
            <a:r>
              <a:rPr sz="750" b="0" i="0" u="none">
                <a:solidFill>
                  <a:srgbClr val="94A3B8"/>
                </a:solidFill>
                <a:latin typeface="Inter"/>
              </a:rPr>
              <a:t> General guidelines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0" y="2524125"/>
            <a:ext cx="2371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0" i="0" u="none">
                <a:solidFill>
                  <a:srgbClr val="94A3B8"/>
                </a:solidFill>
                <a:latin typeface="Inter"/>
              </a:rPr>
              <a:t>• </a:t>
            </a:r>
            <a:r>
              <a:rPr sz="750" b="1" i="0" u="none">
                <a:solidFill>
                  <a:srgbClr val="FFFFFF"/>
                </a:solidFill>
                <a:latin typeface="Inter"/>
              </a:rPr>
              <a:t>Procedures:</a:t>
            </a:r>
            <a:r>
              <a:rPr sz="750" b="0" i="0" u="none">
                <a:solidFill>
                  <a:srgbClr val="94A3B8"/>
                </a:solidFill>
                <a:latin typeface="Inter"/>
              </a:rPr>
              <a:t> Sequential steps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0" y="2714625"/>
            <a:ext cx="2371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0" i="0" u="none">
                <a:solidFill>
                  <a:srgbClr val="94A3B8"/>
                </a:solidFill>
                <a:latin typeface="Inter"/>
              </a:rPr>
              <a:t>• </a:t>
            </a:r>
            <a:r>
              <a:rPr sz="750" b="1" i="0" u="none">
                <a:solidFill>
                  <a:srgbClr val="FFFFFF"/>
                </a:solidFill>
                <a:latin typeface="Inter"/>
              </a:rPr>
              <a:t>Rules:</a:t>
            </a:r>
            <a:r>
              <a:rPr sz="750" b="0" i="0" u="none">
                <a:solidFill>
                  <a:srgbClr val="94A3B8"/>
                </a:solidFill>
                <a:latin typeface="Inter"/>
              </a:rPr>
              <a:t> Explicit do's &amp; don'ts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2575" y="2333625"/>
            <a:ext cx="2371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0" i="0" u="none">
                <a:solidFill>
                  <a:srgbClr val="94A3B8"/>
                </a:solidFill>
                <a:latin typeface="Inter"/>
              </a:rPr>
              <a:t>• </a:t>
            </a:r>
            <a:r>
              <a:rPr sz="750" b="1" i="0" u="none">
                <a:solidFill>
                  <a:srgbClr val="FFFFFF"/>
                </a:solidFill>
                <a:latin typeface="Inter"/>
              </a:rPr>
              <a:t>Programs:</a:t>
            </a:r>
            <a:r>
              <a:rPr sz="750" b="0" i="0" u="none">
                <a:solidFill>
                  <a:srgbClr val="94A3B8"/>
                </a:solidFill>
                <a:latin typeface="Inter"/>
              </a:rPr>
              <a:t> Comprehensive plans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2575" y="2524125"/>
            <a:ext cx="2371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0" i="0" u="none">
                <a:solidFill>
                  <a:srgbClr val="94A3B8"/>
                </a:solidFill>
                <a:latin typeface="Inter"/>
              </a:rPr>
              <a:t>• </a:t>
            </a:r>
            <a:r>
              <a:rPr sz="750" b="1" i="0" u="none">
                <a:solidFill>
                  <a:srgbClr val="FFFFFF"/>
                </a:solidFill>
                <a:latin typeface="Inter"/>
              </a:rPr>
              <a:t>Projects:</a:t>
            </a:r>
            <a:r>
              <a:rPr sz="750" b="0" i="0" u="none">
                <a:solidFill>
                  <a:srgbClr val="94A3B8"/>
                </a:solidFill>
                <a:latin typeface="Inter"/>
              </a:rPr>
              <a:t> Specific scope plans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2575" y="2714625"/>
            <a:ext cx="2371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0" i="0" u="none">
                <a:solidFill>
                  <a:srgbClr val="94A3B8"/>
                </a:solidFill>
                <a:latin typeface="Inter"/>
              </a:rPr>
              <a:t>• </a:t>
            </a:r>
            <a:r>
              <a:rPr sz="750" b="1" i="0" u="none">
                <a:solidFill>
                  <a:srgbClr val="FFFFFF"/>
                </a:solidFill>
                <a:latin typeface="Inter"/>
              </a:rPr>
              <a:t>Budgets:</a:t>
            </a:r>
            <a:r>
              <a:rPr sz="750" b="0" i="0" u="none">
                <a:solidFill>
                  <a:srgbClr val="94A3B8"/>
                </a:solidFill>
                <a:latin typeface="Inter"/>
              </a:rPr>
              <a:t> Financial plans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1000" y="1190625"/>
            <a:ext cx="3227486" cy="533400"/>
          </a:xfrm>
          <a:prstGeom prst="roundRect">
            <a:avLst>
              <a:gd name="adj" fmla="val 7142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84686" y="1190625"/>
            <a:ext cx="3227486" cy="533400"/>
          </a:xfrm>
          <a:prstGeom prst="roundRect">
            <a:avLst>
              <a:gd name="adj" fmla="val 7142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1000" y="1800225"/>
            <a:ext cx="3227486" cy="533400"/>
          </a:xfrm>
          <a:prstGeom prst="roundRect">
            <a:avLst>
              <a:gd name="adj" fmla="val 7142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84686" y="1800225"/>
            <a:ext cx="3227486" cy="533400"/>
          </a:xfrm>
          <a:prstGeom prst="roundRect">
            <a:avLst>
              <a:gd name="adj" fmla="val 7142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1000" y="2409825"/>
            <a:ext cx="3227486" cy="533400"/>
          </a:xfrm>
          <a:prstGeom prst="roundRect">
            <a:avLst>
              <a:gd name="adj" fmla="val 7142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84686" y="2409825"/>
            <a:ext cx="3227486" cy="533400"/>
          </a:xfrm>
          <a:prstGeom prst="roundRect">
            <a:avLst>
              <a:gd name="adj" fmla="val 7142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1000" y="3019425"/>
            <a:ext cx="3227486" cy="533400"/>
          </a:xfrm>
          <a:prstGeom prst="roundRect">
            <a:avLst>
              <a:gd name="adj" fmla="val 7142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84686" y="3019425"/>
            <a:ext cx="3227486" cy="533400"/>
          </a:xfrm>
          <a:prstGeom prst="roundRect">
            <a:avLst>
              <a:gd name="adj" fmla="val 7142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000" y="381000"/>
            <a:ext cx="1143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UNIT II • EXECUTION 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571500"/>
            <a:ext cx="11811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Systematic Steps in the Planning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6324600"/>
            <a:ext cx="1924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Planning &amp; Decision Making • Unit 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3300" y="6324600"/>
            <a:ext cx="647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4 of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5905500"/>
            <a:ext cx="6531173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A5B4FC"/>
                </a:solidFill>
                <a:latin typeface="ui-monospace"/>
              </a:rPr>
              <a:t>Logical 8-Step Planning Cycle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598" y="2169318"/>
            <a:ext cx="4422576" cy="2667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75736" y="4912518"/>
            <a:ext cx="240030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1" u="none">
                <a:solidFill>
                  <a:srgbClr val="94A3B8"/>
                </a:solidFill>
                <a:latin typeface="Inter"/>
              </a:rPr>
              <a:t>Figure 1: Business Planning Flowchart &amp; 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75" y="1295400"/>
            <a:ext cx="301793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Step 1: Environmental Scanning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775" y="1476375"/>
            <a:ext cx="25908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SWOT analysis &amp; assessing future premises/trends.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9461" y="1295400"/>
            <a:ext cx="301793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Step 2: Establishing Objectives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9461" y="1476375"/>
            <a:ext cx="2171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Setting SMART organizational &amp; unit goals.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775" y="1905000"/>
            <a:ext cx="301793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Step 3: Developing Premises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775" y="2085975"/>
            <a:ext cx="2495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Forecasting economic, market, &amp; tech conditions.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9461" y="1905000"/>
            <a:ext cx="301793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Step 4: Identifying Alternatives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9461" y="2085975"/>
            <a:ext cx="2152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Brainstorming feasible paths to objectives.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5775" y="2514600"/>
            <a:ext cx="301793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Step 5: Evaluating Alternatives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775" y="2695575"/>
            <a:ext cx="18573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Weighing cost, risk, ROI, &amp; feasibility.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89461" y="2514600"/>
            <a:ext cx="301793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Step 6: Selecting Optimal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9461" y="2695575"/>
            <a:ext cx="22764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Choosing best alternative or strategy combo.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775" y="3124200"/>
            <a:ext cx="301793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Step 7: Formulating Derivative Plans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775" y="3305175"/>
            <a:ext cx="20478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Sub-plans for purchasing, hiring, &amp; tech.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89461" y="3124200"/>
            <a:ext cx="301793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Step 8: Budgeting &amp; 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89461" y="3305175"/>
            <a:ext cx="20764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Quantifying into budgets &amp; tracking KPIs.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3705225"/>
            <a:ext cx="1203275" cy="3238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300" y="3705225"/>
            <a:ext cx="1203424" cy="323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874" y="3705225"/>
            <a:ext cx="1203275" cy="323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5300" y="3705225"/>
            <a:ext cx="1203424" cy="32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5874" y="3705225"/>
            <a:ext cx="1203424" cy="3238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1000" y="1190625"/>
            <a:ext cx="6531173" cy="819150"/>
          </a:xfrm>
          <a:prstGeom prst="roundRect">
            <a:avLst>
              <a:gd name="adj" fmla="val 13953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1000" y="3295650"/>
            <a:ext cx="6531173" cy="876300"/>
          </a:xfrm>
          <a:prstGeom prst="roundRect">
            <a:avLst>
              <a:gd name="adj" fmla="val 13043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1000" y="5457825"/>
            <a:ext cx="6531173" cy="590550"/>
          </a:xfrm>
          <a:prstGeom prst="roundRect">
            <a:avLst>
              <a:gd name="adj" fmla="val 19354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000" y="381000"/>
            <a:ext cx="1143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UNIT II • GOAL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571500"/>
            <a:ext cx="11811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Management by Objectives (MBO)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6324600"/>
            <a:ext cx="1924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Planning &amp; Decision Making • Unit 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2825" y="6324600"/>
            <a:ext cx="6381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5 of 12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4598" y="2343001"/>
            <a:ext cx="4422576" cy="231963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75749" y="4738836"/>
            <a:ext cx="2200275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1" u="none">
                <a:solidFill>
                  <a:srgbClr val="94A3B8"/>
                </a:solidFill>
                <a:latin typeface="Inter"/>
              </a:rPr>
              <a:t>Figure 2: MBO Collaborative Objective 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875" y="1333500"/>
            <a:ext cx="6245423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A5B4FC"/>
                </a:solidFill>
                <a:latin typeface="Inter"/>
              </a:rPr>
              <a:t>Peter Drucker's Concept (1954)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875" y="1562100"/>
            <a:ext cx="624542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MBO is a strategic management model that aims to improve organizational performance by clearly defining objectives that are agreed to by both management and employees.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875" y="3438525"/>
            <a:ext cx="6245423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A5B4FC"/>
                </a:solidFill>
                <a:latin typeface="Inter"/>
              </a:rPr>
              <a:t>SMART Goals Criteria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825" y="5581650"/>
            <a:ext cx="628352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A5B4FC"/>
                </a:solidFill>
                <a:latin typeface="Inter"/>
              </a:rPr>
              <a:t>Key Steps in MBO Process: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825" y="5781675"/>
            <a:ext cx="60293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1. Set Org Goals → 2. Cascade Sub-Goals → 3. Joint Goal Setting → 4. Progress Monitoring → 5. Performance Appraisal.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1000" y="1190625"/>
            <a:ext cx="5600700" cy="4857750"/>
          </a:xfrm>
          <a:prstGeom prst="roundRect">
            <a:avLst>
              <a:gd name="adj" fmla="val 235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1190625"/>
            <a:ext cx="5600700" cy="4857750"/>
          </a:xfrm>
          <a:prstGeom prst="roundRect">
            <a:avLst>
              <a:gd name="adj" fmla="val 235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1000" y="381000"/>
            <a:ext cx="1143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UNIT II • EVALUATION OF MBO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571500"/>
            <a:ext cx="11811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Benefits, Limitations, &amp; Success Factors of MBO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6324600"/>
            <a:ext cx="1924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Planning &amp; Decision Making • Unit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2825" y="6324600"/>
            <a:ext cx="6381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6 of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925" y="5743575"/>
            <a:ext cx="5276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34D399"/>
                </a:solidFill>
                <a:latin typeface="ui-monospace"/>
              </a:rPr>
              <a:t>Performance &amp; Alignment Driver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2225" y="5743575"/>
            <a:ext cx="5276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FB7185"/>
                </a:solidFill>
                <a:latin typeface="ui-monospace"/>
              </a:rPr>
              <a:t>Prerequisites: Top management support &amp; continuous feedback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1352550"/>
            <a:ext cx="530066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4D399"/>
                </a:solidFill>
                <a:latin typeface="Inter"/>
              </a:rPr>
              <a:t>Key Benefits of MBO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1352550"/>
            <a:ext cx="530066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B7185"/>
                </a:solidFill>
                <a:latin typeface="Inter"/>
              </a:rPr>
              <a:t>Potential Limitations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390650"/>
            <a:ext cx="152400" cy="1524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42925" y="1657350"/>
            <a:ext cx="5276850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125" y="1733550"/>
            <a:ext cx="51244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Goal Clarity &amp; Focus: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Every employee understands exactly what is expected.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925" y="2209800"/>
            <a:ext cx="5276850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125" y="2286000"/>
            <a:ext cx="51244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Increased Employee Motivation: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Participative goal setting boosts commitment and ownership.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2925" y="2762250"/>
            <a:ext cx="5276850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125" y="2838450"/>
            <a:ext cx="51244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Objective Performance Evaluation: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Appraisals based on actual results rather than personal bias.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1390650"/>
            <a:ext cx="152400" cy="152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372225" y="1657350"/>
            <a:ext cx="5276850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8425" y="1733550"/>
            <a:ext cx="51244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Excessive Paperwork &amp; Bureaucracy: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Focus on administrative tracking instead of action.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2225" y="2209800"/>
            <a:ext cx="5276850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8425" y="2286000"/>
            <a:ext cx="51244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Short-Term Bias: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Over-emphasis on short-term measurable targets at expense of long-term innovation.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72225" y="2762250"/>
            <a:ext cx="5276850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8425" y="2838450"/>
            <a:ext cx="51244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Inflexible Goals: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Difficulty adapting goals quickly in volatile market environments.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2925" y="2124075"/>
            <a:ext cx="52768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2925" y="2676525"/>
            <a:ext cx="52768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2925" y="3228975"/>
            <a:ext cx="52768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72225" y="2124075"/>
            <a:ext cx="52768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72225" y="2676525"/>
            <a:ext cx="52768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72225" y="3228975"/>
            <a:ext cx="52768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1000" y="1190625"/>
            <a:ext cx="5600700" cy="4857750"/>
          </a:xfrm>
          <a:prstGeom prst="roundRect">
            <a:avLst>
              <a:gd name="adj" fmla="val 235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1190625"/>
            <a:ext cx="5600700" cy="4857750"/>
          </a:xfrm>
          <a:prstGeom prst="roundRect">
            <a:avLst>
              <a:gd name="adj" fmla="val 235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2925" y="1657350"/>
            <a:ext cx="5276850" cy="971550"/>
          </a:xfrm>
          <a:prstGeom prst="roundRect">
            <a:avLst>
              <a:gd name="adj" fmla="val 3921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2925" y="2743200"/>
            <a:ext cx="5276850" cy="971550"/>
          </a:xfrm>
          <a:prstGeom prst="roundRect">
            <a:avLst>
              <a:gd name="adj" fmla="val 3921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72225" y="1657350"/>
            <a:ext cx="5276850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72225" y="2247900"/>
            <a:ext cx="5276850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72225" y="2838450"/>
            <a:ext cx="5276850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000" y="381000"/>
            <a:ext cx="1143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UNIT II • DECISION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571500"/>
            <a:ext cx="11811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Nature and Types of Decision Making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6324600"/>
            <a:ext cx="1924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Planning &amp; Decision Making • Unit 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2825" y="6324600"/>
            <a:ext cx="6381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7 of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925" y="5743575"/>
            <a:ext cx="5276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818CF8"/>
                </a:solidFill>
                <a:latin typeface="ui-monospace"/>
              </a:rPr>
              <a:t>Routine vs Strategic Choice Mechanics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225" y="5743575"/>
            <a:ext cx="5276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818CF8"/>
                </a:solidFill>
                <a:latin typeface="ui-monospace"/>
              </a:rPr>
              <a:t>Environmental Predictability Continuum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925" y="1352550"/>
            <a:ext cx="55406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A5B4FC"/>
                </a:solidFill>
                <a:latin typeface="Inter"/>
              </a:rPr>
              <a:t>Programmed vs. Non-Programmed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2225" y="1352550"/>
            <a:ext cx="55406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A5B4FC"/>
                </a:solidFill>
                <a:latin typeface="Inter"/>
              </a:rPr>
              <a:t>Decision-Making Environments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1781175"/>
            <a:ext cx="50292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7D2FE"/>
                </a:solidFill>
                <a:latin typeface="Inter"/>
              </a:rPr>
              <a:t>Programmed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2009775"/>
            <a:ext cx="502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Routine, repetitive decisions handled through standard operating procedures (SOPs), rules, or policies.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2371725"/>
            <a:ext cx="29146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0" i="1" u="none">
                <a:solidFill>
                  <a:srgbClr val="94A3B8"/>
                </a:solidFill>
                <a:latin typeface="Inter"/>
              </a:rPr>
              <a:t>Example: Reordering inventory when stock reaches safety level.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2867025"/>
            <a:ext cx="50292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7D2FE"/>
                </a:solidFill>
                <a:latin typeface="Inter"/>
              </a:rPr>
              <a:t>Non-Programmed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3095625"/>
            <a:ext cx="502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Unique, poorly structured, strategic decisions requiring custom problem solving and manager judgment.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3457575"/>
            <a:ext cx="3524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0" i="1" u="none">
                <a:solidFill>
                  <a:srgbClr val="94A3B8"/>
                </a:solidFill>
                <a:latin typeface="Inter"/>
              </a:rPr>
              <a:t>Example: Entering a new international market or launching a new product line.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0" y="1762125"/>
            <a:ext cx="5067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34D399"/>
                </a:solidFill>
                <a:latin typeface="Inter"/>
              </a:rPr>
              <a:t>1. Certainty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0" y="1914525"/>
            <a:ext cx="4019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Manager knows exact outcome of every alternative (100% accurate data).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0" y="2352675"/>
            <a:ext cx="5067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BBF24"/>
                </a:solidFill>
                <a:latin typeface="Inter"/>
              </a:rPr>
              <a:t>2.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0" y="2505075"/>
            <a:ext cx="43529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Manager can estimate probabilities of various outcomes based on historical data.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0" y="2943225"/>
            <a:ext cx="5067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B7185"/>
                </a:solidFill>
                <a:latin typeface="Inter"/>
              </a:rPr>
              <a:t>3. Uncertainty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0" y="3095625"/>
            <a:ext cx="41529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Outcomes unpredictable; no historical data or probability estimates 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1000" y="1190625"/>
            <a:ext cx="2771775" cy="933450"/>
          </a:xfrm>
          <a:prstGeom prst="roundRect">
            <a:avLst>
              <a:gd name="adj" fmla="val 1224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67075" y="1190625"/>
            <a:ext cx="2771775" cy="933450"/>
          </a:xfrm>
          <a:prstGeom prst="roundRect">
            <a:avLst>
              <a:gd name="adj" fmla="val 1224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53150" y="1190625"/>
            <a:ext cx="2771775" cy="933450"/>
          </a:xfrm>
          <a:prstGeom prst="roundRect">
            <a:avLst>
              <a:gd name="adj" fmla="val 1224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39225" y="1190625"/>
            <a:ext cx="2771775" cy="933450"/>
          </a:xfrm>
          <a:prstGeom prst="roundRect">
            <a:avLst>
              <a:gd name="adj" fmla="val 1224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1000" y="5267325"/>
            <a:ext cx="3733800" cy="781050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29100" y="5267325"/>
            <a:ext cx="3733800" cy="781050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77200" y="5267325"/>
            <a:ext cx="3733800" cy="781050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000" y="381000"/>
            <a:ext cx="1143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UNIT II • RATIONAL CHOICE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571500"/>
            <a:ext cx="11811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The Rational Decision-Making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6324600"/>
            <a:ext cx="1924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Planning &amp; Decision Making • Unit 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2825" y="6324600"/>
            <a:ext cx="6381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8 of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825" y="1314450"/>
            <a:ext cx="2524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825" y="1504950"/>
            <a:ext cx="2524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Identify &amp; Define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825" y="1695450"/>
            <a:ext cx="2524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Recognize gap between current state &amp; desired state.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0900" y="1314450"/>
            <a:ext cx="2524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0900" y="1504950"/>
            <a:ext cx="2524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Identify Decision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0900" y="1695450"/>
            <a:ext cx="2524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Determine factors relevant to resolving problem (cost, quality, time).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6975" y="1314450"/>
            <a:ext cx="2524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6975" y="1504950"/>
            <a:ext cx="2524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Weight Criteria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6975" y="1695450"/>
            <a:ext cx="2524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Assign relative priority weights to each decision criterion.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3050" y="1314450"/>
            <a:ext cx="2524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3050" y="1504950"/>
            <a:ext cx="2524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Develop Alternatives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3050" y="1695450"/>
            <a:ext cx="25241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List all viable alternative options without premature evaluation.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825" y="5391150"/>
            <a:ext cx="3486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Step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825" y="5581650"/>
            <a:ext cx="3486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Analyze Alternatives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825" y="5772150"/>
            <a:ext cx="3486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Critically evaluate each option against weighted decision criteria.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2925" y="5391150"/>
            <a:ext cx="3486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Step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2925" y="5581650"/>
            <a:ext cx="3486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Select &amp; Implement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52925" y="5772150"/>
            <a:ext cx="3486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Choose optimal alternative and execute through action plans.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1025" y="5391150"/>
            <a:ext cx="3486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Step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1025" y="5581650"/>
            <a:ext cx="3486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Evaluate Decision Effect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1025" y="5772150"/>
            <a:ext cx="3486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Monitor results; take corrective feedback action if gap persists.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1000" y="1190625"/>
            <a:ext cx="6531173" cy="590550"/>
          </a:xfrm>
          <a:prstGeom prst="roundRect">
            <a:avLst>
              <a:gd name="adj" fmla="val 19354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1000" y="2612975"/>
            <a:ext cx="6531173" cy="590550"/>
          </a:xfrm>
          <a:prstGeom prst="roundRect">
            <a:avLst>
              <a:gd name="adj" fmla="val 19354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1000" y="4035325"/>
            <a:ext cx="6531173" cy="590550"/>
          </a:xfrm>
          <a:prstGeom prst="roundRect">
            <a:avLst>
              <a:gd name="adj" fmla="val 19354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1000" y="5457676"/>
            <a:ext cx="6531173" cy="590550"/>
          </a:xfrm>
          <a:prstGeom prst="roundRect">
            <a:avLst>
              <a:gd name="adj" fmla="val 19354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1000" y="381000"/>
            <a:ext cx="1143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UNIT II • ANALYTICAL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571500"/>
            <a:ext cx="11811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Tools and Techniques for Decision Making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6324600"/>
            <a:ext cx="1924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Planning &amp; Decision Making • Unit 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2825" y="6324600"/>
            <a:ext cx="6381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9 of 12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598" y="2169318"/>
            <a:ext cx="4422576" cy="2667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37649" y="4912518"/>
            <a:ext cx="2276475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1" u="none">
                <a:solidFill>
                  <a:srgbClr val="94A3B8"/>
                </a:solidFill>
                <a:latin typeface="Inter"/>
              </a:rPr>
              <a:t>Figure 3: Multi-Criteria Decision Matrix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825" y="1314450"/>
            <a:ext cx="628352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A5B4FC"/>
                </a:solidFill>
                <a:latin typeface="Inter"/>
              </a:rPr>
              <a:t>1. Decision Matrix (Grid Analysis)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825" y="1504950"/>
            <a:ext cx="628352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Evaluates and ranks multiple options against weighted criteria to make objective choices.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825" y="2736800"/>
            <a:ext cx="628352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A5B4FC"/>
                </a:solidFill>
                <a:latin typeface="Inter"/>
              </a:rPr>
              <a:t>2. Decision Trees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825" y="2927300"/>
            <a:ext cx="628352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Diagram mapping probabilistic outcomes, costs, and expected monetary values (EMV) for sequential decisions.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825" y="4159150"/>
            <a:ext cx="628352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A5B4FC"/>
                </a:solidFill>
                <a:latin typeface="Inter"/>
              </a:rPr>
              <a:t>3. Payoff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825" y="4349650"/>
            <a:ext cx="628352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Table illustrating payoff combinations across different states of nature (Maximax, Maximin criteria).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825" y="5581501"/>
            <a:ext cx="628352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A5B4FC"/>
                </a:solidFill>
                <a:latin typeface="Inter"/>
              </a:rPr>
              <a:t>4. Pareto Analysis (80/20 Rule)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825" y="5772001"/>
            <a:ext cx="628352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Identifies the top 20% of causes that drive 80% of problems or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1000" y="1190625"/>
            <a:ext cx="5600700" cy="4857750"/>
          </a:xfrm>
          <a:prstGeom prst="roundRect">
            <a:avLst>
              <a:gd name="adj" fmla="val 235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1190625"/>
            <a:ext cx="5600700" cy="4857750"/>
          </a:xfrm>
          <a:prstGeom prst="roundRect">
            <a:avLst>
              <a:gd name="adj" fmla="val 235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2925" y="1657350"/>
            <a:ext cx="5276850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2925" y="2247900"/>
            <a:ext cx="5276850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2925" y="2838450"/>
            <a:ext cx="5276850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72225" y="1657350"/>
            <a:ext cx="2600325" cy="533400"/>
          </a:xfrm>
          <a:prstGeom prst="roundRect">
            <a:avLst>
              <a:gd name="adj" fmla="val 7142"/>
            </a:avLst>
          </a:prstGeom>
          <a:solidFill>
            <a:srgbClr val="022C22">
              <a:alpha val="40000"/>
            </a:srgbClr>
          </a:solidFill>
          <a:ln w="9525">
            <a:solidFill>
              <a:srgbClr val="10B981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48750" y="1657350"/>
            <a:ext cx="2600325" cy="533400"/>
          </a:xfrm>
          <a:prstGeom prst="roundRect">
            <a:avLst>
              <a:gd name="adj" fmla="val 7142"/>
            </a:avLst>
          </a:prstGeom>
          <a:solidFill>
            <a:srgbClr val="4C0519">
              <a:alpha val="40000"/>
            </a:srgbClr>
          </a:solidFill>
          <a:ln w="9525">
            <a:solidFill>
              <a:srgbClr val="F43F5E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72225" y="2266950"/>
            <a:ext cx="2600325" cy="533400"/>
          </a:xfrm>
          <a:prstGeom prst="roundRect">
            <a:avLst>
              <a:gd name="adj" fmla="val 7142"/>
            </a:avLst>
          </a:prstGeom>
          <a:solidFill>
            <a:srgbClr val="172554">
              <a:alpha val="40000"/>
            </a:srgbClr>
          </a:solidFill>
          <a:ln w="9525">
            <a:solidFill>
              <a:srgbClr val="3B82F6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48750" y="2266950"/>
            <a:ext cx="2600325" cy="533400"/>
          </a:xfrm>
          <a:prstGeom prst="roundRect">
            <a:avLst>
              <a:gd name="adj" fmla="val 7142"/>
            </a:avLst>
          </a:prstGeom>
          <a:solidFill>
            <a:srgbClr val="451A03">
              <a:alpha val="40000"/>
            </a:srgbClr>
          </a:solidFill>
          <a:ln w="9525">
            <a:solidFill>
              <a:srgbClr val="F59E0B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381000"/>
            <a:ext cx="1143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UNIT II • GROUP DYNAMICS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571500"/>
            <a:ext cx="11811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Group Decision-Making &amp; Strategic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6324600"/>
            <a:ext cx="1924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Planning &amp; Decision Making • Unit 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5675" y="6324600"/>
            <a:ext cx="695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10 of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925" y="5743575"/>
            <a:ext cx="5276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818CF8"/>
                </a:solidFill>
                <a:latin typeface="ui-monospace"/>
              </a:rPr>
              <a:t>Consensus &amp; Creative Problem Solving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2225" y="5743575"/>
            <a:ext cx="5276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818CF8"/>
                </a:solidFill>
                <a:latin typeface="ui-monospace"/>
              </a:rPr>
              <a:t>Strategic Environmental Scanning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925" y="1352550"/>
            <a:ext cx="55406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A5B4FC"/>
                </a:solidFill>
                <a:latin typeface="Inter"/>
              </a:rPr>
              <a:t>Group Decision-Making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225" y="1352550"/>
            <a:ext cx="55406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A5B4FC"/>
                </a:solidFill>
                <a:latin typeface="Inter"/>
              </a:rPr>
              <a:t>SWOT Analysis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1762125"/>
            <a:ext cx="5067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Brainstorming: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1924050"/>
            <a:ext cx="4400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Free-flowing idea generation encouraging creative volume without immediate criticism.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2352675"/>
            <a:ext cx="5067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Delphi Technique: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2514600"/>
            <a:ext cx="4819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Anonymously soliciting expert opinions through iterative questionnaires to achieve consensus.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2943225"/>
            <a:ext cx="5067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Nominal Group Technique (NGT):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3105150"/>
            <a:ext cx="48672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Structured group meeting combining silent individual idea writing, discussion, and silent voting.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0" y="1762125"/>
            <a:ext cx="2390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34D399"/>
                </a:solidFill>
                <a:latin typeface="Inter"/>
              </a:rPr>
              <a:t>Strengths (Internal)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0" y="1952625"/>
            <a:ext cx="20955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0" i="0" u="none">
                <a:solidFill>
                  <a:srgbClr val="CBD5E1"/>
                </a:solidFill>
                <a:latin typeface="Inter"/>
              </a:rPr>
              <a:t>Internal capabilities &amp; competitive advantages.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525" y="1762125"/>
            <a:ext cx="2390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B7185"/>
                </a:solidFill>
                <a:latin typeface="Inter"/>
              </a:rPr>
              <a:t>Weaknesses (Internal)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525" y="1952625"/>
            <a:ext cx="160972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0" i="0" u="none">
                <a:solidFill>
                  <a:srgbClr val="CBD5E1"/>
                </a:solidFill>
                <a:latin typeface="Inter"/>
              </a:rPr>
              <a:t>Internal limitations &amp; resource gaps.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0" y="2371725"/>
            <a:ext cx="2390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60A5FA"/>
                </a:solidFill>
                <a:latin typeface="Inter"/>
              </a:rPr>
              <a:t>Opportunities (External)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0" y="2562225"/>
            <a:ext cx="18669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0" i="0" u="none">
                <a:solidFill>
                  <a:srgbClr val="CBD5E1"/>
                </a:solidFill>
                <a:latin typeface="Inter"/>
              </a:rPr>
              <a:t>Favorable external environmental trends.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3525" y="2371725"/>
            <a:ext cx="2390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BBF24"/>
                </a:solidFill>
                <a:latin typeface="Inter"/>
              </a:rPr>
              <a:t>Threats (External)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3525" y="2562225"/>
            <a:ext cx="17716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750" b="0" i="0" u="none">
                <a:solidFill>
                  <a:srgbClr val="CBD5E1"/>
                </a:solidFill>
                <a:latin typeface="Inter"/>
              </a:rPr>
              <a:t>External risks &amp; competitive challenges.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1000" y="1190625"/>
            <a:ext cx="5600700" cy="4857750"/>
          </a:xfrm>
          <a:prstGeom prst="roundRect">
            <a:avLst>
              <a:gd name="adj" fmla="val 235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1190625"/>
            <a:ext cx="5600700" cy="4857750"/>
          </a:xfrm>
          <a:prstGeom prst="roundRect">
            <a:avLst>
              <a:gd name="adj" fmla="val 235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72225" y="1657350"/>
            <a:ext cx="5276850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72225" y="2209800"/>
            <a:ext cx="5276850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72225" y="2762250"/>
            <a:ext cx="5276850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1000" y="381000"/>
            <a:ext cx="1143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UNIT II • ASSESSMENT &amp; 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571500"/>
            <a:ext cx="11811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Unit Summary &amp; Review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6324600"/>
            <a:ext cx="1924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Planning &amp; Decision Making • Unit 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0" y="6324600"/>
            <a:ext cx="666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11 of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925" y="5743575"/>
            <a:ext cx="5276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818CF8"/>
                </a:solidFill>
                <a:latin typeface="ui-monospace"/>
              </a:rPr>
              <a:t>Core Unit II 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2225" y="5743575"/>
            <a:ext cx="5276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FBBF24"/>
                </a:solidFill>
                <a:latin typeface="ui-monospace"/>
              </a:rPr>
              <a:t>Bloom's Taxonomy Levels: Remember → Apply → 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925" y="1352550"/>
            <a:ext cx="55406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A5B4FC"/>
                </a:solidFill>
                <a:latin typeface="Inter"/>
              </a:rPr>
              <a:t>Key Takeaways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225" y="1352550"/>
            <a:ext cx="55406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A5B4FC"/>
                </a:solidFill>
                <a:latin typeface="Inter"/>
              </a:rPr>
              <a:t>Discussion &amp; Review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925" y="1657350"/>
            <a:ext cx="5276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Planning is the </a:t>
            </a:r>
            <a:r>
              <a:rPr sz="900" b="1" i="0" u="none">
                <a:solidFill>
                  <a:srgbClr val="FFFFFF"/>
                </a:solidFill>
                <a:latin typeface="Inter"/>
              </a:rPr>
              <a:t>primary managerial function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that sets standards and reduces uncertainty.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925" y="1885950"/>
            <a:ext cx="5276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Plans range from </a:t>
            </a:r>
            <a:r>
              <a:rPr sz="900" b="1" i="0" u="none">
                <a:solidFill>
                  <a:srgbClr val="FFFFFF"/>
                </a:solidFill>
                <a:latin typeface="Inter"/>
              </a:rPr>
              <a:t>strategic long-term goals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to standing policies and single-use budgets.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925" y="2114550"/>
            <a:ext cx="5276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</a:t>
            </a:r>
            <a:r>
              <a:rPr sz="900" b="1" i="0" u="none">
                <a:solidFill>
                  <a:srgbClr val="FFFFFF"/>
                </a:solidFill>
                <a:latin typeface="Inter"/>
              </a:rPr>
              <a:t>MBO aligns individual performance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with organizational SMART goals.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925" y="2343150"/>
            <a:ext cx="5276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Decision making uses </a:t>
            </a:r>
            <a:r>
              <a:rPr sz="900" b="1" i="0" u="none">
                <a:solidFill>
                  <a:srgbClr val="FFFFFF"/>
                </a:solidFill>
                <a:latin typeface="Inter"/>
              </a:rPr>
              <a:t>rational models, decision matrices, and group consensus tools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7950" y="1743075"/>
            <a:ext cx="5105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CD34D"/>
                </a:solidFill>
                <a:latin typeface="Inter"/>
              </a:rPr>
              <a:t>Q1 (Understand):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7950" y="2295525"/>
            <a:ext cx="5105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CD34D"/>
                </a:solidFill>
                <a:latin typeface="Inter"/>
              </a:rPr>
              <a:t>Q2 (Apply):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7950" y="2847975"/>
            <a:ext cx="5105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CD34D"/>
                </a:solidFill>
                <a:latin typeface="Inter"/>
              </a:rPr>
              <a:t>Q3 (Analyze):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1000" y="1190625"/>
            <a:ext cx="3708350" cy="4857750"/>
          </a:xfrm>
          <a:prstGeom prst="roundRect">
            <a:avLst>
              <a:gd name="adj" fmla="val 308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41750" y="1190625"/>
            <a:ext cx="3708350" cy="4857750"/>
          </a:xfrm>
          <a:prstGeom prst="roundRect">
            <a:avLst>
              <a:gd name="adj" fmla="val 308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02500" y="1190625"/>
            <a:ext cx="3708499" cy="4857750"/>
          </a:xfrm>
          <a:prstGeom prst="roundRect">
            <a:avLst>
              <a:gd name="adj" fmla="val 308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381000"/>
            <a:ext cx="1143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571500"/>
            <a:ext cx="11811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24600"/>
            <a:ext cx="1924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Planning &amp; Decision Making • Unit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5200" y="6324600"/>
            <a:ext cx="685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12 of 12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333500"/>
            <a:ext cx="534888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875" y="1790700"/>
            <a:ext cx="3422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FFFFFF"/>
                </a:solidFill>
                <a:latin typeface="Inter"/>
              </a:rPr>
              <a:t>Source: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625" y="1333500"/>
            <a:ext cx="713779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84625" y="1790700"/>
            <a:ext cx="3422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FFFFFF"/>
                </a:solidFill>
                <a:latin typeface="Inter"/>
              </a:rPr>
              <a:t>Source: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5375" y="1333500"/>
            <a:ext cx="461218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45375" y="1790700"/>
            <a:ext cx="34227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FFFFFF"/>
                </a:solidFill>
                <a:latin typeface="Inter"/>
              </a:rPr>
              <a:t>Source: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875" y="1943100"/>
            <a:ext cx="3422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0A5FA"/>
                </a:solidFill>
                <a:latin typeface="Inter"/>
                <a:hlinkClick r:id="rId5"/>
              </a:rPr>
              <a:t>Business Plan Flowchart Complete Guide | EdrawMax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875" y="2171700"/>
            <a:ext cx="34226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60A5FA"/>
                </a:solidFill>
                <a:latin typeface="Inter"/>
                <a:hlinkClick r:id="rId6"/>
              </a:rPr>
              <a:t>https://images.edrawsoft.com/articles/business-plan-flowchart/business-plan-timeline-flowchart.jpg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4625" y="1943100"/>
            <a:ext cx="3422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0A5FA"/>
                </a:solidFill>
                <a:latin typeface="Inter"/>
                <a:hlinkClick r:id="rId7"/>
              </a:rPr>
              <a:t>Management by Objectives (MBO) - Overview, Steps, Benefits - Corporate Finance Institute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4625" y="2171700"/>
            <a:ext cx="34226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60A5FA"/>
                </a:solidFill>
                <a:latin typeface="Inter"/>
                <a:hlinkClick r:id="rId8"/>
              </a:rPr>
              <a:t>https://cdn.corporatefinanceinstitute.com/assets/management-by-objectives-mbo1-1024x535.png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5375" y="1943100"/>
            <a:ext cx="342274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0A5FA"/>
                </a:solidFill>
                <a:latin typeface="Inter"/>
                <a:hlinkClick r:id="rId9"/>
              </a:rPr>
              <a:t>What is a Decision Matrix? Pugh, Problem, or Selection Grid - ASQ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5375" y="2171700"/>
            <a:ext cx="342274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60A5FA"/>
                </a:solidFill>
                <a:latin typeface="Inter"/>
                <a:hlinkClick r:id="rId10"/>
              </a:rPr>
              <a:t>https://asq.org/-/media/Images/Learn-About-Quality/edmt_matrix_cropped.jpg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