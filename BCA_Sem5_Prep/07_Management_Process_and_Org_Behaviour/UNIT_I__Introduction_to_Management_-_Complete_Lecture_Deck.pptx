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889" autoAdjust="0"/>
    <p:restoredTop sz="94660"/>
  </p:normalViewPr>
  <p:slideViewPr>
    <p:cSldViewPr snapToGrid="0" snapToObjects="1">
      <p:cViewPr>
        <p:scale>
          <a:sx n="150" d="100"/>
          <a:sy n="150" d="100"/>
        </p:scale>
        <p:origin x="108" y="-7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addha singh" userId="d47aa1787fe1e7f2" providerId="LiveId" clId="{849893B1-AB22-43F3-A0D3-56B52A532077}"/>
    <pc:docChg chg="addSld modSld">
      <pc:chgData name="shraddha singh" userId="d47aa1787fe1e7f2" providerId="LiveId" clId="{849893B1-AB22-43F3-A0D3-56B52A532077}" dt="2026-09-08T03:43:04.085" v="1" actId="1036"/>
      <pc:docMkLst>
        <pc:docMk/>
      </pc:docMkLst>
      <pc:sldChg chg="modSp mod">
        <pc:chgData name="shraddha singh" userId="d47aa1787fe1e7f2" providerId="LiveId" clId="{849893B1-AB22-43F3-A0D3-56B52A532077}" dt="2026-09-08T03:43:04.085" v="1" actId="1036"/>
        <pc:sldMkLst>
          <pc:docMk/>
          <pc:sldMk cId="0" sldId="262"/>
        </pc:sldMkLst>
        <pc:spChg chg="mod">
          <ac:chgData name="shraddha singh" userId="d47aa1787fe1e7f2" providerId="LiveId" clId="{849893B1-AB22-43F3-A0D3-56B52A532077}" dt="2026-09-08T03:43:04.085" v="1" actId="1036"/>
          <ac:spMkLst>
            <pc:docMk/>
            <pc:sldMk cId="0" sldId="262"/>
            <ac:spMk id="3" creationId="{00000000-0000-0000-0000-000000000000}"/>
          </ac:spMkLst>
        </pc:spChg>
      </pc:sldChg>
      <pc:sldChg chg="new">
        <pc:chgData name="shraddha singh" userId="d47aa1787fe1e7f2" providerId="LiveId" clId="{849893B1-AB22-43F3-A0D3-56B52A532077}" dt="2026-08-31T09:13:39.616" v="0" actId="680"/>
        <pc:sldMkLst>
          <pc:docMk/>
          <pc:sldMk cId="3542765563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study.com/cimages/videopreview/2.10_106354.jpg" TargetMode="External"/><Relationship Id="rId3" Type="http://schemas.openxmlformats.org/officeDocument/2006/relationships/image" Target="../media/image18.png"/><Relationship Id="rId7" Type="http://schemas.openxmlformats.org/officeDocument/2006/relationships/hyperlink" Target="https://study.com/academy/lesson/henri-fayols-management-principles-managing-departmental-task-organization.html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functionly.com/hs-fs/hubfs/Flat-Org-Structure.jpg?width=780&amp;name=Flat-Org-Structure.jpg" TargetMode="External"/><Relationship Id="rId5" Type="http://schemas.openxmlformats.org/officeDocument/2006/relationships/hyperlink" Target="https://www.functionly.com/orginometry/org-charts/what-exactly-is-a-hierarchy-chart" TargetMode="External"/><Relationship Id="rId10" Type="http://schemas.openxmlformats.org/officeDocument/2006/relationships/hyperlink" Target="https://i.ytimg.com/vi/IjUf9aNOFqg/hqdefault.jpg" TargetMode="External"/><Relationship Id="rId4" Type="http://schemas.openxmlformats.org/officeDocument/2006/relationships/image" Target="../media/image19.png"/><Relationship Id="rId9" Type="http://schemas.openxmlformats.org/officeDocument/2006/relationships/hyperlink" Target="https://www.youtube.com/watch?v=IjUf9aNOFq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245" y="2085975"/>
            <a:ext cx="3021359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171950"/>
            <a:ext cx="2692300" cy="742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700" y="4171950"/>
            <a:ext cx="2692449" cy="742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750" y="4171950"/>
            <a:ext cx="2692300" cy="7429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1000" y="381000"/>
            <a:ext cx="11430000" cy="304800"/>
          </a:xfrm>
          <a:prstGeom prst="roundRect">
            <a:avLst>
              <a:gd name="adj" fmla="val 125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1000" y="6162675"/>
            <a:ext cx="11430000" cy="314325"/>
          </a:xfrm>
          <a:prstGeom prst="roundRect">
            <a:avLst/>
          </a:prstGeom>
          <a:noFill/>
          <a:ln w="9525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1500" y="457200"/>
            <a:ext cx="1047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0F172A"/>
                </a:solidFill>
                <a:latin typeface="Inter"/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457200"/>
            <a:ext cx="52673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0F172A"/>
                </a:solidFill>
                <a:latin typeface="Inter"/>
              </a:rPr>
              <a:t>This deck may contain links or images from external sources. Please review them before opening.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402" y="2638425"/>
            <a:ext cx="811304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FFFFFF"/>
                </a:solidFill>
                <a:latin typeface="Inter"/>
              </a:rPr>
              <a:t>UNIT I: Introduction to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8400" y="3248025"/>
            <a:ext cx="73152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37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Foundational concepts, management levels, managerial roles, historical evolution of thought, and core POSDC functions.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6324600"/>
            <a:ext cx="3495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Vivekananda Global University | Course Handout &amp; Lecture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91875" y="6324600"/>
            <a:ext cx="619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1 of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0725" y="4333875"/>
            <a:ext cx="2368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MODULE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0725" y="4524375"/>
            <a:ext cx="2368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Definition, Nature &amp;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1625" y="4333875"/>
            <a:ext cx="236859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MODULE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1625" y="4524375"/>
            <a:ext cx="236859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Levels, Skills &amp; Roles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2675" y="4333875"/>
            <a:ext cx="2368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MODULE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2675" y="4524375"/>
            <a:ext cx="2368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Inter"/>
              </a:rPr>
              <a:t>Theories &amp; POSDC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5600700" cy="1581150"/>
          </a:xfrm>
          <a:prstGeom prst="roundRect">
            <a:avLst>
              <a:gd name="adj" fmla="val 7228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1000" y="2924175"/>
            <a:ext cx="5600700" cy="1333500"/>
          </a:xfrm>
          <a:prstGeom prst="roundRect">
            <a:avLst>
              <a:gd name="adj" fmla="val 8571"/>
            </a:avLst>
          </a:prstGeom>
          <a:solidFill>
            <a:srgbClr val="1E1B4B">
              <a:alpha val="40000"/>
            </a:srgbClr>
          </a:solidFill>
          <a:ln w="9525">
            <a:solidFill>
              <a:srgbClr val="6366F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1190625"/>
            <a:ext cx="5600700" cy="3886200"/>
          </a:xfrm>
          <a:prstGeom prst="roundRect">
            <a:avLst>
              <a:gd name="adj" fmla="val 2941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5229225"/>
            <a:ext cx="5600700" cy="819150"/>
          </a:xfrm>
          <a:prstGeom prst="roundRect">
            <a:avLst>
              <a:gd name="adj" fmla="val 13953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2925" y="3352800"/>
            <a:ext cx="2581275" cy="742950"/>
          </a:xfrm>
          <a:prstGeom prst="roundRect">
            <a:avLst>
              <a:gd name="adj" fmla="val 5128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38500" y="3352800"/>
            <a:ext cx="2581275" cy="742950"/>
          </a:xfrm>
          <a:prstGeom prst="roundRect">
            <a:avLst>
              <a:gd name="adj" fmla="val 5128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72225" y="1695450"/>
            <a:ext cx="2600325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334155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48750" y="1695450"/>
            <a:ext cx="2600325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334155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72225" y="2286000"/>
            <a:ext cx="2600325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334155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48750" y="2286000"/>
            <a:ext cx="2600325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334155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 • CONCEPTUAL FOUNDATIONS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Definition, Nature &amp; Scope of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Introduction to Management • Unit 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2825" y="6324600"/>
            <a:ext cx="638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2 of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1352550"/>
            <a:ext cx="5330666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A5B4FC"/>
                </a:solidFill>
                <a:latin typeface="Inter"/>
              </a:rPr>
              <a:t>Core Definitions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3086100"/>
            <a:ext cx="554069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7D2FE"/>
                </a:solidFill>
                <a:latin typeface="Inter"/>
              </a:rPr>
              <a:t>Key Distinction: Efficiency vs. Effectiveness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225" y="1352550"/>
            <a:ext cx="554069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A5B4FC"/>
                </a:solidFill>
                <a:latin typeface="Inter"/>
              </a:rPr>
              <a:t>Nature of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3175" y="5372100"/>
            <a:ext cx="558069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A5B4FC"/>
                </a:solidFill>
                <a:latin typeface="Inter"/>
              </a:rPr>
              <a:t>Functional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3175" y="5600700"/>
            <a:ext cx="5314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Spans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Production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,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Marketing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,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Financial Management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,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Human Resources (HR)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, and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Management Information Systems (MIS)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390650"/>
            <a:ext cx="123825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2925" y="1695450"/>
            <a:ext cx="5276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Harold Koontz: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"Designing &amp; maintaining an environment in which individuals, working in groups, efficiently accomplish selected aims."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925" y="2076450"/>
            <a:ext cx="5276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Mary Parker Follett: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"The art of getting things done through people."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" y="2305050"/>
            <a:ext cx="5276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Peter Drucker: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"A multi-purpose organ that manages a business, manages managers, and manages workers and work."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" y="3476625"/>
            <a:ext cx="233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34D399"/>
                </a:solidFill>
                <a:latin typeface="Inter"/>
              </a:rPr>
              <a:t>Effectiveness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3667125"/>
            <a:ext cx="2333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Doing the right things. Achieving targets &amp; objectives.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2325" y="3476625"/>
            <a:ext cx="233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0A5FA"/>
                </a:solidFill>
                <a:latin typeface="Inter"/>
              </a:rPr>
              <a:t>Efficiency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2325" y="3667125"/>
            <a:ext cx="2333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Doing things right. Minimizing resource inputs &amp; costs.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0" y="1800225"/>
            <a:ext cx="23907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Universal 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0" y="1962150"/>
            <a:ext cx="20478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Applies across all industries &amp; org types.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525" y="1800225"/>
            <a:ext cx="23907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Goal-Oriented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3525" y="1962150"/>
            <a:ext cx="19812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Integrates resources toward objectives.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0" y="2390775"/>
            <a:ext cx="23907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Dynamic &amp; Continuous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0" y="2552700"/>
            <a:ext cx="19145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Adapts to internal &amp; external changes.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3525" y="2390775"/>
            <a:ext cx="23907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Art, Science &amp; Profession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525" y="2552700"/>
            <a:ext cx="20478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Systematic principles + creative practice.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6531173" cy="666750"/>
          </a:xfrm>
          <a:prstGeom prst="roundRect">
            <a:avLst>
              <a:gd name="adj" fmla="val 1714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1000" y="1971675"/>
            <a:ext cx="6531173" cy="666750"/>
          </a:xfrm>
          <a:prstGeom prst="roundRect">
            <a:avLst>
              <a:gd name="adj" fmla="val 1714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1000" y="2752725"/>
            <a:ext cx="6531173" cy="666750"/>
          </a:xfrm>
          <a:prstGeom prst="roundRect">
            <a:avLst>
              <a:gd name="adj" fmla="val 1714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873948" y="1338262"/>
            <a:ext cx="895350" cy="180975"/>
          </a:xfrm>
          <a:prstGeom prst="roundRect">
            <a:avLst>
              <a:gd name="adj" fmla="val 21052"/>
            </a:avLst>
          </a:prstGeom>
          <a:solidFill>
            <a:srgbClr val="6366F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45323" y="2119312"/>
            <a:ext cx="1323975" cy="180975"/>
          </a:xfrm>
          <a:prstGeom prst="roundRect">
            <a:avLst>
              <a:gd name="adj" fmla="val 21052"/>
            </a:avLst>
          </a:prstGeom>
          <a:solidFill>
            <a:srgbClr val="6366F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73898" y="2900362"/>
            <a:ext cx="1295400" cy="180975"/>
          </a:xfrm>
          <a:prstGeom prst="roundRect">
            <a:avLst>
              <a:gd name="adj" fmla="val 21052"/>
            </a:avLst>
          </a:prstGeom>
          <a:solidFill>
            <a:srgbClr val="6366F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 • ORGANIZATIONAL HIERARCHY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Levels of Management &amp; Katz's Skill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Introduction to Management • Unit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2825" y="6324600"/>
            <a:ext cx="638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3 of 12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598" y="2208907"/>
            <a:ext cx="4422576" cy="25876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51899" y="4872781"/>
            <a:ext cx="284797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1" u="none">
                <a:solidFill>
                  <a:srgbClr val="94A3B8"/>
                </a:solidFill>
                <a:latin typeface="Inter"/>
              </a:rPr>
              <a:t>Figure 1: Organizational Hierarchy &amp; Operational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875" y="1562100"/>
            <a:ext cx="624542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Formulates long-term strategy, vision, policies, and org-wide goals. Requires maximum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Conceptual Skills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875" y="2343150"/>
            <a:ext cx="624542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Translates strategy into tactical operational plans. Requires balanced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Human &amp; Interpersonal Skills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5" y="3124200"/>
            <a:ext cx="624542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Directly oversees daily tasks, output quality, and workforce safety. Requires high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Technical Skills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875" y="1333500"/>
            <a:ext cx="2510313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A5B4FC"/>
                </a:solidFill>
                <a:latin typeface="Inter"/>
              </a:rPr>
              <a:t>1. Top-Level Management (Strategic)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3948" y="1338262"/>
            <a:ext cx="895350" cy="180975"/>
          </a:xfrm>
          <a:prstGeom prst="roundRect">
            <a:avLst>
              <a:gd name="adj" fmla="val 21052"/>
            </a:avLst>
          </a:prstGeom>
          <a:solidFill>
            <a:srgbClr val="6366F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50148" y="1357312"/>
            <a:ext cx="742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A5B4FC"/>
                </a:solidFill>
                <a:latin typeface="Inter"/>
              </a:rPr>
              <a:t>CEO, MD, 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875" y="2114550"/>
            <a:ext cx="266033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A5B4FC"/>
                </a:solidFill>
                <a:latin typeface="Inter"/>
              </a:rPr>
              <a:t>2. Middle-Level Management (Tactical)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5323" y="2119312"/>
            <a:ext cx="1323975" cy="180975"/>
          </a:xfrm>
          <a:prstGeom prst="roundRect">
            <a:avLst>
              <a:gd name="adj" fmla="val 21052"/>
            </a:avLst>
          </a:prstGeom>
          <a:solidFill>
            <a:srgbClr val="6366F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21523" y="2138362"/>
            <a:ext cx="1171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A5B4FC"/>
                </a:solidFill>
                <a:latin typeface="Inter"/>
              </a:rPr>
              <a:t>Dept Heads, Branch Mgrs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875" y="2895600"/>
            <a:ext cx="269033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A5B4FC"/>
                </a:solidFill>
                <a:latin typeface="Inter"/>
              </a:rPr>
              <a:t>3. First-Line / Operational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73898" y="2900362"/>
            <a:ext cx="1295400" cy="180975"/>
          </a:xfrm>
          <a:prstGeom prst="roundRect">
            <a:avLst>
              <a:gd name="adj" fmla="val 21052"/>
            </a:avLst>
          </a:prstGeom>
          <a:solidFill>
            <a:srgbClr val="6366F1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50098" y="2919412"/>
            <a:ext cx="1143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A5B4FC"/>
                </a:solidFill>
                <a:latin typeface="Inter"/>
              </a:rPr>
              <a:t>Supervisors, Team Leads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3708350" cy="4857750"/>
          </a:xfrm>
          <a:prstGeom prst="roundRect">
            <a:avLst>
              <a:gd name="adj" fmla="val 308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6366F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241750" y="1190625"/>
            <a:ext cx="3708350" cy="4857750"/>
          </a:xfrm>
          <a:prstGeom prst="roundRect">
            <a:avLst>
              <a:gd name="adj" fmla="val 308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B82F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02500" y="1190625"/>
            <a:ext cx="3708499" cy="4857750"/>
          </a:xfrm>
          <a:prstGeom prst="roundRect">
            <a:avLst>
              <a:gd name="adj" fmla="val 308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10B98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2925" y="1695450"/>
            <a:ext cx="338450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2925" y="2324100"/>
            <a:ext cx="338450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2925" y="2952750"/>
            <a:ext cx="338450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03675" y="1695450"/>
            <a:ext cx="338450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03675" y="2324100"/>
            <a:ext cx="338450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03675" y="2952750"/>
            <a:ext cx="338450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64425" y="1695450"/>
            <a:ext cx="3384649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64425" y="2247900"/>
            <a:ext cx="3384649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64425" y="2800350"/>
            <a:ext cx="3384649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64425" y="3352800"/>
            <a:ext cx="3384649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 • MANAGERIAL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Mintzberg’s 10 Managerial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Introduction to Management • Unit 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3300" y="6324600"/>
            <a:ext cx="6477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4 of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" y="5743575"/>
            <a:ext cx="3384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A5B4FC"/>
                </a:solidFill>
                <a:latin typeface="ui-monospace"/>
              </a:rPr>
              <a:t>Focus: Building Relationships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3675" y="5743575"/>
            <a:ext cx="3384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93C5FD"/>
                </a:solidFill>
                <a:latin typeface="ui-monospace"/>
              </a:rPr>
              <a:t>Focus: Managing Information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4425" y="5743575"/>
            <a:ext cx="33846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6EE7B7"/>
                </a:solidFill>
                <a:latin typeface="ui-monospace"/>
              </a:rPr>
              <a:t>Focus: Action &amp; Decision-Making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1352550"/>
            <a:ext cx="3117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818CF8"/>
                </a:solidFill>
                <a:latin typeface="Inter"/>
              </a:rPr>
              <a:t>Interpersonal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2275" y="1352550"/>
            <a:ext cx="31559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60A5FA"/>
                </a:solidFill>
                <a:latin typeface="Inter"/>
              </a:rPr>
              <a:t>Informational Roles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3025" y="1352550"/>
            <a:ext cx="3156049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34D399"/>
                </a:solidFill>
                <a:latin typeface="Inter"/>
              </a:rPr>
              <a:t>Decisional Roles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352550"/>
            <a:ext cx="190500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675" y="1352550"/>
            <a:ext cx="152400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425" y="1352550"/>
            <a:ext cx="152400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7700" y="1800225"/>
            <a:ext cx="3174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1. Figurehead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1952625"/>
            <a:ext cx="3162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Symbolic duties, legal signings, ribbon-cutting ceremonies.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2428875"/>
            <a:ext cx="3174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2. Leader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2581275"/>
            <a:ext cx="2466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Motivating, guiding, and training subordinates.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057525"/>
            <a:ext cx="3174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3. Liaison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209925"/>
            <a:ext cx="2876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Maintaining key internal &amp; external contact networks.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8450" y="1800225"/>
            <a:ext cx="3174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4. Monitor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8450" y="1952625"/>
            <a:ext cx="2905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Scanning industry &amp; environment for operational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8450" y="2428875"/>
            <a:ext cx="3174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5. Disseminator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8450" y="2581275"/>
            <a:ext cx="2476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Sharing vital info with internal team members.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8450" y="3057525"/>
            <a:ext cx="3174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6. Spokesperson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8450" y="3209925"/>
            <a:ext cx="2781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Transmitting official status to external stakeholders.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0150" y="1781175"/>
            <a:ext cx="321319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7. Entrepreneur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0150" y="1933575"/>
            <a:ext cx="2400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Initiating innovation &amp; improvement projects.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0150" y="2333625"/>
            <a:ext cx="321319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8. Disturbance Handler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0150" y="2486025"/>
            <a:ext cx="2305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Resolving crises &amp; operational bottlenecks.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50150" y="2886075"/>
            <a:ext cx="321319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9. Resource Allocator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0150" y="3038475"/>
            <a:ext cx="2095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Distributing budgets, time, &amp; personnel.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0150" y="3438525"/>
            <a:ext cx="321319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10. Negotiator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0150" y="3590925"/>
            <a:ext cx="2305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Representing unit in major contracts/deals.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333500"/>
            <a:ext cx="30480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645" y="1333500"/>
            <a:ext cx="3048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565" y="1333500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335" y="1333500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9255" y="1333500"/>
            <a:ext cx="304800" cy="30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1000" y="1190625"/>
            <a:ext cx="2194470" cy="4857750"/>
          </a:xfrm>
          <a:prstGeom prst="roundRect">
            <a:avLst>
              <a:gd name="adj" fmla="val 5208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689770" y="1190625"/>
            <a:ext cx="2194619" cy="4857750"/>
          </a:xfrm>
          <a:prstGeom prst="roundRect">
            <a:avLst>
              <a:gd name="adj" fmla="val 5208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98690" y="1190625"/>
            <a:ext cx="2194470" cy="4857750"/>
          </a:xfrm>
          <a:prstGeom prst="roundRect">
            <a:avLst>
              <a:gd name="adj" fmla="val 5208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07460" y="1190625"/>
            <a:ext cx="2194619" cy="4857750"/>
          </a:xfrm>
          <a:prstGeom prst="roundRect">
            <a:avLst>
              <a:gd name="adj" fmla="val 5208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16380" y="1190625"/>
            <a:ext cx="2194470" cy="4857750"/>
          </a:xfrm>
          <a:prstGeom prst="roundRect">
            <a:avLst>
              <a:gd name="adj" fmla="val 5208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 • ETHICS &amp; RESPONSIBILITIES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Managerial Responsibilities to Stakeholders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Introduction to Management • Unit 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2825" y="6324600"/>
            <a:ext cx="638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5 of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5" y="5762625"/>
            <a:ext cx="190872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1" i="0" u="none">
                <a:solidFill>
                  <a:srgbClr val="818CF8"/>
                </a:solidFill>
                <a:latin typeface="Inter"/>
              </a:rPr>
              <a:t>Capital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2645" y="5762625"/>
            <a:ext cx="190886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1" i="0" u="none">
                <a:solidFill>
                  <a:srgbClr val="60A5FA"/>
                </a:solidFill>
                <a:latin typeface="Inter"/>
              </a:rPr>
              <a:t>Human Capital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1565" y="5762625"/>
            <a:ext cx="190872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1" i="0" u="none">
                <a:solidFill>
                  <a:srgbClr val="34D399"/>
                </a:solidFill>
                <a:latin typeface="Inter"/>
              </a:rPr>
              <a:t>Value &amp;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0335" y="5762625"/>
            <a:ext cx="190886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1" i="0" u="none">
                <a:solidFill>
                  <a:srgbClr val="FBBF24"/>
                </a:solidFill>
                <a:latin typeface="Inter"/>
              </a:rPr>
              <a:t>Social Good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9255" y="5762625"/>
            <a:ext cx="190872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1" i="0" u="none">
                <a:solidFill>
                  <a:srgbClr val="FB7185"/>
                </a:solidFill>
                <a:latin typeface="Inter"/>
              </a:rPr>
              <a:t>Legal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875" y="1752600"/>
            <a:ext cx="200415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Shareholders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875" y="1981200"/>
            <a:ext cx="1908720" cy="4321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34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Ensuring sustainable ROI, protecting capital assets, and providing transparent financial disclosures.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2645" y="1752600"/>
            <a:ext cx="2004313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Employees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2645" y="1981200"/>
            <a:ext cx="1908869" cy="4321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34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Providing competitive wages, safe workplaces, career growth opportunities, and workplace dignity.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1565" y="1752600"/>
            <a:ext cx="200415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Consumers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1565" y="1981200"/>
            <a:ext cx="1908720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34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Delivering high-quality products/services, fair pricing, honest advertising, and prompt customer support.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335" y="1752600"/>
            <a:ext cx="2004313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Society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335" y="1981200"/>
            <a:ext cx="1908869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34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Practicing Corporate Social Responsibility (CSR), environmental sustainability, and ethical business conduct.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9255" y="1752600"/>
            <a:ext cx="200415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Government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9255" y="1981200"/>
            <a:ext cx="1908720" cy="4321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34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Strict compliance with regulatory frameworks, paying statutory taxes, and adhering to labor laws.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2925" y="2047875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7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2925" y="2600325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7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2925" y="3152775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7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72225" y="2047875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7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72225" y="2600325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7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2225" y="3152775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7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 • EVOLUTION OF THOUGHT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Classical Management Approach (Late 19th C – 1930s)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Introduction to Management • Unit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2825" y="6324600"/>
            <a:ext cx="638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6 of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5729287"/>
            <a:ext cx="52768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1" u="none">
                <a:solidFill>
                  <a:srgbClr val="818CF8"/>
                </a:solidFill>
                <a:latin typeface="ui-monospace"/>
              </a:rPr>
              <a:t>Core Theme: Shop-floor efficiency &amp; standard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5729287"/>
            <a:ext cx="52768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1" u="none">
                <a:solidFill>
                  <a:srgbClr val="818CF8"/>
                </a:solidFill>
                <a:latin typeface="ui-monospace"/>
              </a:rPr>
              <a:t>Core Theme: Rationality, stability &amp; standardized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925" y="1781175"/>
            <a:ext cx="5276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Focuses on engineering individual tasks to determine the "one best way" to execute 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2225" y="1781175"/>
            <a:ext cx="5276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Focuses on structural rationality, clear authority, and explicit rules in large organizations.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925" y="1352550"/>
            <a:ext cx="187023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5B4FC"/>
                </a:solidFill>
                <a:latin typeface="Inter"/>
              </a:rPr>
              <a:t>Scientific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2075" y="1390650"/>
            <a:ext cx="6477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94A3B8"/>
                </a:solidFill>
                <a:latin typeface="Inter"/>
              </a:rPr>
              <a:t>F. W. Taylor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2225" y="1352550"/>
            <a:ext cx="16602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5B4FC"/>
                </a:solidFill>
                <a:latin typeface="Inter"/>
              </a:rPr>
              <a:t>Bureaucratic Theory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29950" y="1390650"/>
            <a:ext cx="619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94A3B8"/>
                </a:solidFill>
                <a:latin typeface="Inter"/>
              </a:rPr>
              <a:t>Max Weber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2133600"/>
            <a:ext cx="510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7D2FE"/>
                </a:solidFill>
                <a:latin typeface="Inter"/>
              </a:rPr>
              <a:t>Scientific Task Design: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" y="2686050"/>
            <a:ext cx="510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7D2FE"/>
                </a:solidFill>
                <a:latin typeface="Inter"/>
              </a:rPr>
              <a:t>Scientific Selection: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" y="3238500"/>
            <a:ext cx="510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7D2FE"/>
                </a:solidFill>
                <a:latin typeface="Inter"/>
              </a:rPr>
              <a:t>Differential Piece-Rate: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7950" y="2133600"/>
            <a:ext cx="510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7D2FE"/>
                </a:solidFill>
                <a:latin typeface="Inter"/>
              </a:rPr>
              <a:t>Strict Hierarchy: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7950" y="2686050"/>
            <a:ext cx="510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7D2FE"/>
                </a:solidFill>
                <a:latin typeface="Inter"/>
              </a:rPr>
              <a:t>Formal Rules (SOPs):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7950" y="3238500"/>
            <a:ext cx="510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C7D2FE"/>
                </a:solidFill>
                <a:latin typeface="Inter"/>
              </a:rPr>
              <a:t>Impersonality: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198789"/>
            <a:ext cx="6531173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1619250"/>
            <a:ext cx="3065561" cy="628650"/>
          </a:xfrm>
          <a:prstGeom prst="roundRect">
            <a:avLst>
              <a:gd name="adj" fmla="val 606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84686" y="1619250"/>
            <a:ext cx="3065561" cy="628650"/>
          </a:xfrm>
          <a:prstGeom prst="roundRect">
            <a:avLst>
              <a:gd name="adj" fmla="val 606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2925" y="2324100"/>
            <a:ext cx="3065561" cy="628650"/>
          </a:xfrm>
          <a:prstGeom prst="roundRect">
            <a:avLst>
              <a:gd name="adj" fmla="val 606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84686" y="2324100"/>
            <a:ext cx="3065561" cy="628650"/>
          </a:xfrm>
          <a:prstGeom prst="roundRect">
            <a:avLst>
              <a:gd name="adj" fmla="val 606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2925" y="3028950"/>
            <a:ext cx="3065561" cy="628650"/>
          </a:xfrm>
          <a:prstGeom prst="roundRect">
            <a:avLst>
              <a:gd name="adj" fmla="val 606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84686" y="3028950"/>
            <a:ext cx="3065561" cy="628650"/>
          </a:xfrm>
          <a:prstGeom prst="roundRect">
            <a:avLst>
              <a:gd name="adj" fmla="val 606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 • ADMINISTRATIVE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Henri Fayol’s Administrative Theory (14 Principles)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Introduction to Management • Unit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2825" y="6324600"/>
            <a:ext cx="638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7 of 12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598" y="2254746"/>
            <a:ext cx="4422576" cy="24959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56686" y="4826942"/>
            <a:ext cx="243840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1" u="none">
                <a:solidFill>
                  <a:srgbClr val="94A3B8"/>
                </a:solidFill>
                <a:latin typeface="Inter"/>
              </a:rPr>
              <a:t>Figure 2: Henri Fayol's Administrative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925" y="1352550"/>
            <a:ext cx="651768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A5B4FC"/>
                </a:solidFill>
                <a:latin typeface="Inter"/>
              </a:rPr>
              <a:t>Selected Key Principles of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" y="1704975"/>
            <a:ext cx="289411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1. Division of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0411" y="1704975"/>
            <a:ext cx="289411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2. Unity of 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" y="2409825"/>
            <a:ext cx="289411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3. Unity of Direction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0411" y="2409825"/>
            <a:ext cx="289411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4. Scalar 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" y="3114675"/>
            <a:ext cx="289411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5. Subordination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0411" y="3114675"/>
            <a:ext cx="289411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6. Esprit de Corps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2925" y="1657350"/>
            <a:ext cx="5276850" cy="742950"/>
          </a:xfrm>
          <a:prstGeom prst="roundRect">
            <a:avLst>
              <a:gd name="adj" fmla="val 10256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72225" y="1657350"/>
            <a:ext cx="527685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72225" y="2266950"/>
            <a:ext cx="527685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72225" y="2876550"/>
            <a:ext cx="5276850" cy="514350"/>
          </a:xfrm>
          <a:prstGeom prst="roundRect">
            <a:avLst>
              <a:gd name="adj" fmla="val 7407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 • HUMAN RELATIONS PARADIGM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Behavioral &amp; Neo-Classical Approaches (1930s – 1950s)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Introduction to Management • Unit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2825" y="6324600"/>
            <a:ext cx="638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8 of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" y="5729287"/>
            <a:ext cx="52768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818CF8"/>
                </a:solidFill>
                <a:latin typeface="ui-monospace"/>
              </a:rPr>
              <a:t>Foundations of Organizational Behavior (OB)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225" y="5729287"/>
            <a:ext cx="52768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818CF8"/>
                </a:solidFill>
                <a:latin typeface="ui-monospace"/>
              </a:rPr>
              <a:t>Focus: Psychological Needs &amp; Leadership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1352550"/>
            <a:ext cx="55406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5B4FC"/>
                </a:solidFill>
                <a:latin typeface="Inter"/>
              </a:rPr>
              <a:t>Hawthorne Studies &amp; Elton Mayo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1352550"/>
            <a:ext cx="55406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5B4FC"/>
                </a:solidFill>
                <a:latin typeface="Inter"/>
              </a:rPr>
              <a:t>Key Behavioral Science Contributors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1781175"/>
            <a:ext cx="5029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34D399"/>
                </a:solidFill>
                <a:latin typeface="Inter"/>
              </a:rPr>
              <a:t>The "Hawthorne Effect"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1971675"/>
            <a:ext cx="5029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Productivity increased not merely due to physical working conditions (lighting, rest breaks), but because workers felt valued, observed, and part of an informal social team.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925" y="2514600"/>
            <a:ext cx="5276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Shifted focus from machines/structure to human emotions &amp; group dynamics.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" y="2743200"/>
            <a:ext cx="5276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Identified informal organization as a key driver of workforce morale.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1762125"/>
            <a:ext cx="5067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Abraham Maslow: Hierarchy of Needs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0" y="1924050"/>
            <a:ext cx="32480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Physiological → Safety → Social → Esteem → Self-Actualization.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0" y="2371725"/>
            <a:ext cx="5067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Douglas McGregor: Theory X vs. Theory 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0" y="2533650"/>
            <a:ext cx="42195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Theory X assumes workers lazy/coerced; Theory Y assumes workers self-motivated.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0" y="2981325"/>
            <a:ext cx="5067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Frederick Herzberg: Two-Factor Theory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0" y="3143250"/>
            <a:ext cx="38004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Hygiene factors prevent dissatisfaction; Motivators drive high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6366F1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B82F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72225" y="1924050"/>
            <a:ext cx="5276850" cy="590550"/>
          </a:xfrm>
          <a:prstGeom prst="roundRect">
            <a:avLst>
              <a:gd name="adj" fmla="val 12903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2925" y="2076450"/>
            <a:ext cx="1262062" cy="600075"/>
          </a:xfrm>
          <a:prstGeom prst="roundRect">
            <a:avLst>
              <a:gd name="adj" fmla="val 634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81187" y="2076450"/>
            <a:ext cx="1262062" cy="600075"/>
          </a:xfrm>
          <a:prstGeom prst="roundRect">
            <a:avLst>
              <a:gd name="adj" fmla="val 634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19450" y="2076450"/>
            <a:ext cx="1262062" cy="600075"/>
          </a:xfrm>
          <a:prstGeom prst="roundRect">
            <a:avLst>
              <a:gd name="adj" fmla="val 634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57712" y="2076450"/>
            <a:ext cx="1262062" cy="600075"/>
          </a:xfrm>
          <a:prstGeom prst="roundRect">
            <a:avLst>
              <a:gd name="adj" fmla="val 634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 • MODERN MANAGEMENT PARADIGMS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Modern Management Approaches (1960s – Present)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Introduction to Management • Unit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2825" y="6324600"/>
            <a:ext cx="638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9 of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5729287"/>
            <a:ext cx="52768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818CF8"/>
                </a:solidFill>
                <a:latin typeface="ui-monospace"/>
              </a:rPr>
              <a:t>Interconnectedness &amp; Holistic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25" y="5729287"/>
            <a:ext cx="52768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0A5FA"/>
                </a:solidFill>
                <a:latin typeface="ui-monospace"/>
              </a:rPr>
              <a:t>Adaptability &amp; Contextual Problem Solving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925" y="1352550"/>
            <a:ext cx="55406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5B4FC"/>
                </a:solidFill>
                <a:latin typeface="Inter"/>
              </a:rPr>
              <a:t>1. Systems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925" y="1657350"/>
            <a:ext cx="5276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Views the organization as an open, interconnected system operating within a dynamic external environment.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2790825"/>
            <a:ext cx="5276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FFFFF"/>
                </a:solidFill>
                <a:latin typeface="Inter"/>
              </a:rPr>
              <a:t>Synergy Concept: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The whole system output is greater than the sum of individual parts (2 + 2 &gt; 4).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225" y="1352550"/>
            <a:ext cx="55406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3C5FD"/>
                </a:solidFill>
                <a:latin typeface="Inter"/>
              </a:rPr>
              <a:t>2. Contingency / Situational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2225" y="1657350"/>
            <a:ext cx="5276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Rejects universal management rules. Asserts that there is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no single "one best way"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to manage.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6050" y="2047875"/>
            <a:ext cx="5029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60A5FA"/>
                </a:solidFill>
                <a:latin typeface="ui-monospace"/>
              </a:rPr>
              <a:t>Situational Logic: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6050" y="2238375"/>
            <a:ext cx="5029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1" u="none">
                <a:solidFill>
                  <a:srgbClr val="CBD5E1"/>
                </a:solidFill>
                <a:latin typeface="Inter"/>
              </a:rPr>
              <a:t>If situational variables (X) exist → Then managerial action (Y) is optimal.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2225" y="2628900"/>
            <a:ext cx="5276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Action depends on org size, technology, &amp; environmental uncertainty.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2838450"/>
            <a:ext cx="5276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Blends quantitative data with flexible leadership styles.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" y="2162175"/>
            <a:ext cx="10906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750" b="1" i="0" u="none">
                <a:solidFill>
                  <a:srgbClr val="818CF8"/>
                </a:solidFill>
                <a:latin typeface="Inter"/>
              </a:rPr>
              <a:t>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093" y="2314575"/>
            <a:ext cx="847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750" b="0" i="0" u="none">
                <a:solidFill>
                  <a:srgbClr val="94A3B8"/>
                </a:solidFill>
                <a:latin typeface="Inter"/>
              </a:rPr>
              <a:t>5Ms: Men, Money,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6912" y="2162175"/>
            <a:ext cx="10906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750" b="1" i="0" u="none">
                <a:solidFill>
                  <a:srgbClr val="818CF8"/>
                </a:solidFill>
                <a:latin typeface="Inter"/>
              </a:rPr>
              <a:t>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97881" y="2314575"/>
            <a:ext cx="8286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750" b="0" i="0" u="none">
                <a:solidFill>
                  <a:srgbClr val="94A3B8"/>
                </a:solidFill>
                <a:latin typeface="Inter"/>
              </a:rPr>
              <a:t>Operations &amp; 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5175" y="2162175"/>
            <a:ext cx="10906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750" b="1" i="0" u="none">
                <a:solidFill>
                  <a:srgbClr val="818CF8"/>
                </a:solidFill>
                <a:latin typeface="Inter"/>
              </a:rPr>
              <a:t>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6631" y="2314575"/>
            <a:ext cx="6477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750" b="0" i="0" u="none">
                <a:solidFill>
                  <a:srgbClr val="94A3B8"/>
                </a:solidFill>
                <a:latin typeface="Inter"/>
              </a:rPr>
              <a:t>Goods &amp;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3437" y="2162175"/>
            <a:ext cx="10906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750" b="1" i="0" u="none">
                <a:solidFill>
                  <a:srgbClr val="818CF8"/>
                </a:solidFill>
                <a:latin typeface="Inter"/>
              </a:rPr>
              <a:t>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02993" y="2314575"/>
            <a:ext cx="5715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"/>
              </a:lnSpc>
            </a:pPr>
            <a:r>
              <a:rPr sz="750" b="0" i="0" u="none">
                <a:solidFill>
                  <a:srgbClr val="94A3B8"/>
                </a:solidFill>
                <a:latin typeface="Inter"/>
              </a:rPr>
              <a:t>Market 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5598169" cy="533400"/>
          </a:xfrm>
          <a:prstGeom prst="roundRect">
            <a:avLst>
              <a:gd name="adj" fmla="val 14285"/>
            </a:avLst>
          </a:prstGeom>
          <a:solidFill>
            <a:srgbClr val="1E293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1000" y="1800225"/>
            <a:ext cx="5598169" cy="533400"/>
          </a:xfrm>
          <a:prstGeom prst="roundRect">
            <a:avLst>
              <a:gd name="adj" fmla="val 14285"/>
            </a:avLst>
          </a:prstGeom>
          <a:solidFill>
            <a:srgbClr val="1E293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1000" y="2409825"/>
            <a:ext cx="5598169" cy="533400"/>
          </a:xfrm>
          <a:prstGeom prst="roundRect">
            <a:avLst>
              <a:gd name="adj" fmla="val 14285"/>
            </a:avLst>
          </a:prstGeom>
          <a:solidFill>
            <a:srgbClr val="1E293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1000" y="3019425"/>
            <a:ext cx="5598169" cy="533400"/>
          </a:xfrm>
          <a:prstGeom prst="roundRect">
            <a:avLst>
              <a:gd name="adj" fmla="val 14285"/>
            </a:avLst>
          </a:prstGeom>
          <a:solidFill>
            <a:srgbClr val="1E293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1000" y="3629025"/>
            <a:ext cx="5598169" cy="533400"/>
          </a:xfrm>
          <a:prstGeom prst="roundRect">
            <a:avLst>
              <a:gd name="adj" fmla="val 14285"/>
            </a:avLst>
          </a:prstGeom>
          <a:solidFill>
            <a:srgbClr val="1E293B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 • MANAGEMENT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Core Functions of Management (POSDC Framework)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Introduction to Management • Unit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15675" y="6324600"/>
            <a:ext cx="6953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10 of 12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594" y="2169318"/>
            <a:ext cx="5355580" cy="2667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8198" y="4912518"/>
            <a:ext cx="256222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1" u="none">
                <a:solidFill>
                  <a:srgbClr val="94A3B8"/>
                </a:solidFill>
                <a:latin typeface="Inter"/>
              </a:rPr>
              <a:t>Figure 3: Interconnected POSDC Management 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" y="1285875"/>
            <a:ext cx="536956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1.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" y="1476375"/>
            <a:ext cx="37147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Setting goals, forecasting premises, &amp; selecting best course of 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350" y="1895475"/>
            <a:ext cx="536956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2. Organizing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350" y="2085975"/>
            <a:ext cx="3295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Grouping tasks, establishing authority, &amp; allocating resources.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350" y="2505075"/>
            <a:ext cx="536956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3. Staffing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350" y="2695575"/>
            <a:ext cx="37147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Recruiting, selecting, training, &amp; compensating competent workforce.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350" y="3114675"/>
            <a:ext cx="536956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4. Directing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50" y="3305175"/>
            <a:ext cx="3324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Leading, motivating, supervising, &amp; communicating with team.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350" y="3724275"/>
            <a:ext cx="536956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FFFFFF"/>
                </a:solidFill>
                <a:latin typeface="Inter"/>
              </a:rPr>
              <a:t>5. Controlling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350" y="3914775"/>
            <a:ext cx="3171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Measuring performance vs KPIs &amp; taking corrective 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190625"/>
            <a:ext cx="5600700" cy="4857750"/>
          </a:xfrm>
          <a:prstGeom prst="roundRect">
            <a:avLst>
              <a:gd name="adj" fmla="val 235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72225" y="1657350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72225" y="2209800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72225" y="2762250"/>
            <a:ext cx="5276850" cy="476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UNIT I • ASSESSMENT &amp;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Unit Summary &amp; Review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Introduction to Management • Unit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0" y="6324600"/>
            <a:ext cx="6667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11 of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25" y="5743575"/>
            <a:ext cx="5276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818CF8"/>
                </a:solidFill>
                <a:latin typeface="ui-monospace"/>
              </a:rPr>
              <a:t>Core Knowledge Synthesized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2225" y="5743575"/>
            <a:ext cx="5276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FBBF24"/>
                </a:solidFill>
                <a:latin typeface="ui-monospace"/>
              </a:rPr>
              <a:t>Bloom's Taxonomy Levels: Remember → Apply → 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1352550"/>
            <a:ext cx="55406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5B4FC"/>
                </a:solidFill>
                <a:latin typeface="Inter"/>
              </a:rPr>
              <a:t>Key Takeaways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25" y="1352550"/>
            <a:ext cx="55406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A5B4FC"/>
                </a:solidFill>
                <a:latin typeface="Inter"/>
              </a:rPr>
              <a:t>Discussion &amp; Review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925" y="1657350"/>
            <a:ext cx="5276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Management balances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science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(principles) and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art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(practical application).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925" y="1885950"/>
            <a:ext cx="5276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Managerial levels require distinct ratios of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Conceptual, Human, &amp; Technical skills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(Katz).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2114550"/>
            <a:ext cx="5276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Mintzberg's 10 Roles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capture daily managerial actions.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925" y="2343150"/>
            <a:ext cx="5276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• Thought evolved from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Classical efficiency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to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Behavioral human focus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 and </a:t>
            </a:r>
            <a:r>
              <a:rPr sz="900" b="1" i="0" u="none">
                <a:solidFill>
                  <a:srgbClr val="FFFFFF"/>
                </a:solidFill>
                <a:latin typeface="Inter"/>
              </a:rPr>
              <a:t>Modern systems/contingency models</a:t>
            </a:r>
            <a:r>
              <a:rPr sz="9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950" y="1743075"/>
            <a:ext cx="510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CD34D"/>
                </a:solidFill>
                <a:latin typeface="Inter"/>
              </a:rPr>
              <a:t>Q1 (Understand):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950" y="2295525"/>
            <a:ext cx="510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CD34D"/>
                </a:solidFill>
                <a:latin typeface="Inter"/>
              </a:rPr>
              <a:t>Q2 (Apply):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950" y="2847975"/>
            <a:ext cx="510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FCD34D"/>
                </a:solidFill>
                <a:latin typeface="Inter"/>
              </a:rPr>
              <a:t>Q3 (Analyze):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765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6200775"/>
            <a:ext cx="11430000" cy="276225"/>
          </a:xfrm>
          <a:prstGeom prst="roundRect">
            <a:avLst/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190625"/>
            <a:ext cx="3708350" cy="4857750"/>
          </a:xfrm>
          <a:prstGeom prst="roundRect">
            <a:avLst>
              <a:gd name="adj" fmla="val 308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241750" y="1190625"/>
            <a:ext cx="3708350" cy="4857750"/>
          </a:xfrm>
          <a:prstGeom prst="roundRect">
            <a:avLst>
              <a:gd name="adj" fmla="val 308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02500" y="1190625"/>
            <a:ext cx="3708499" cy="4857750"/>
          </a:xfrm>
          <a:prstGeom prst="roundRect">
            <a:avLst>
              <a:gd name="adj" fmla="val 3082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" y="381000"/>
            <a:ext cx="1143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1" i="0" u="none">
                <a:solidFill>
                  <a:srgbClr val="818CF8"/>
                </a:solidFill>
                <a:latin typeface="Inter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571500"/>
            <a:ext cx="11811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6324600"/>
            <a:ext cx="1924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Introduction to Management • Unit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5200" y="6324600"/>
            <a:ext cx="685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Slide 12 of 12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333500"/>
            <a:ext cx="6413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75" y="1790700"/>
            <a:ext cx="3422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FFFFFF"/>
                </a:solidFill>
                <a:latin typeface="Inter"/>
              </a:rPr>
              <a:t>Source: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625" y="1333500"/>
            <a:ext cx="665261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4625" y="1790700"/>
            <a:ext cx="3422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FFFFFF"/>
                </a:solidFill>
                <a:latin typeface="Inter"/>
              </a:rPr>
              <a:t>Source: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375" y="1333500"/>
            <a:ext cx="502146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45375" y="1790700"/>
            <a:ext cx="342274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FFFFFF"/>
                </a:solidFill>
                <a:latin typeface="Inter"/>
              </a:rPr>
              <a:t>Source: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875" y="1943100"/>
            <a:ext cx="3422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0A5FA"/>
                </a:solidFill>
                <a:latin typeface="Inter"/>
                <a:hlinkClick r:id="rId5"/>
              </a:rPr>
              <a:t>What Exactly is a Hierarchy Chart? - Functionly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5" y="2171700"/>
            <a:ext cx="3422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60A5FA"/>
                </a:solidFill>
                <a:latin typeface="Inter"/>
                <a:hlinkClick r:id="rId6"/>
              </a:rPr>
              <a:t>https://www.functionly.com/hs-fs/hubfs/Flat-Org-Structure.jpg?width=780&amp;name=Flat-Org-Structure.jpg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4625" y="1943100"/>
            <a:ext cx="3422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0A5FA"/>
                </a:solidFill>
                <a:latin typeface="Inter"/>
                <a:hlinkClick r:id="rId7"/>
              </a:rPr>
              <a:t>Henri Fayol's Principles of Management | Definition &amp; Importance - Lesson - Study.com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4625" y="2171700"/>
            <a:ext cx="3422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60A5FA"/>
                </a:solidFill>
                <a:latin typeface="Inter"/>
                <a:hlinkClick r:id="rId8"/>
              </a:rPr>
              <a:t>https://study.com/cimages/videopreview/2.10_106354.jpg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5375" y="1943100"/>
            <a:ext cx="342274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0A5FA"/>
                </a:solidFill>
                <a:latin typeface="Inter"/>
                <a:hlinkClick r:id="rId9"/>
              </a:rPr>
              <a:t>Four Functions of Management Explained: Planning, Organizing, Leading, Controlling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5375" y="2171700"/>
            <a:ext cx="34227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i="0" u="none">
                <a:solidFill>
                  <a:srgbClr val="60A5FA"/>
                </a:solidFill>
                <a:latin typeface="Inter"/>
                <a:hlinkClick r:id="rId10"/>
              </a:rPr>
              <a:t>https://i.ytimg.com/vi/IjUf9aNOFqg/hqdefault.jpg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1427</Words>
  <Application>Microsoft Office PowerPoint</Application>
  <PresentationFormat>Widescreen</PresentationFormat>
  <Paragraphs>213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Inter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shraddha singh</cp:lastModifiedBy>
  <cp:revision>1</cp:revision>
  <dcterms:created xsi:type="dcterms:W3CDTF">2013-01-27T09:14:16Z</dcterms:created>
  <dcterms:modified xsi:type="dcterms:W3CDTF">2026-09-08T04:19:28Z</dcterms:modified>
  <cp:category/>
</cp:coreProperties>
</file>